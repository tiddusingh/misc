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7863840" y="0"/>
            <a:ext cx="73152" cy="5143500"/>
          </a:xfrm>
          <a:prstGeom prst="rect">
            <a:avLst/>
          </a:prstGeom>
          <a:solidFill>
            <a:srgbClr val="E0A458"/>
          </a:solidFill>
          <a:ln w="12700">
            <a:solidFill>
              <a:srgbClr val="E0A458"/>
            </a:solidFill>
            <a:prstDash val="solid"/>
          </a:ln>
        </p:spPr>
      </p:sp>
      <p:sp>
        <p:nvSpPr>
          <p:cNvPr id="3" name="Shape 1"/>
          <p:cNvSpPr/>
          <p:nvPr/>
        </p:nvSpPr>
        <p:spPr>
          <a:xfrm>
            <a:off x="8138160" y="0"/>
            <a:ext cx="18288" cy="5143500"/>
          </a:xfrm>
          <a:prstGeom prst="rect">
            <a:avLst/>
          </a:prstGeom>
          <a:solidFill>
            <a:srgbClr val="E0A458"/>
          </a:solidFill>
          <a:ln w="12700">
            <a:solidFill>
              <a:srgbClr val="E0A458"/>
            </a:solidFill>
            <a:prstDash val="solid"/>
          </a:ln>
        </p:spPr>
      </p:sp>
      <p:sp>
        <p:nvSpPr>
          <p:cNvPr id="4" name="Text 2"/>
          <p:cNvSpPr/>
          <p:nvPr/>
        </p:nvSpPr>
        <p:spPr>
          <a:xfrm>
            <a:off x="548640" y="502920"/>
            <a:ext cx="6400800" cy="274320"/>
          </a:xfrm>
          <a:prstGeom prst="rect">
            <a:avLst/>
          </a:prstGeom>
          <a:noFill/>
          <a:ln/>
        </p:spPr>
        <p:txBody>
          <a:bodyPr wrap="square" lIns="0" tIns="0" rIns="0" bIns="0" rtlCol="0" anchor="ctr"/>
          <a:lstStyle/>
          <a:p>
            <a:pPr indent="0" marL="0">
              <a:buNone/>
            </a:pPr>
            <a:r>
              <a:rPr lang="en-US" sz="1000" b="1" spc="400" kern="0" dirty="0">
                <a:solidFill>
                  <a:srgbClr val="E0A458"/>
                </a:solidFill>
                <a:latin typeface="Calibri" pitchFamily="34" charset="0"/>
                <a:ea typeface="Calibri" pitchFamily="34" charset="-122"/>
                <a:cs typeface="Calibri" pitchFamily="34" charset="-120"/>
              </a:rPr>
              <a:t>DATA ARCHITECTURE  /  CONFIDENTIAL DRAFT</a:t>
            </a:r>
            <a:endParaRPr lang="en-US" sz="1000" dirty="0"/>
          </a:p>
        </p:txBody>
      </p:sp>
      <p:sp>
        <p:nvSpPr>
          <p:cNvPr id="5" name="Text 3"/>
          <p:cNvSpPr/>
          <p:nvPr/>
        </p:nvSpPr>
        <p:spPr>
          <a:xfrm>
            <a:off x="548640" y="1280160"/>
            <a:ext cx="77724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National Data Model</a:t>
            </a:r>
            <a:endParaRPr lang="en-US" sz="4400" dirty="0"/>
          </a:p>
        </p:txBody>
      </p:sp>
      <p:sp>
        <p:nvSpPr>
          <p:cNvPr id="6" name="Text 4"/>
          <p:cNvSpPr/>
          <p:nvPr/>
        </p:nvSpPr>
        <p:spPr>
          <a:xfrm>
            <a:off x="548640" y="2103120"/>
            <a:ext cx="7772400" cy="502920"/>
          </a:xfrm>
          <a:prstGeom prst="rect">
            <a:avLst/>
          </a:prstGeom>
          <a:noFill/>
          <a:ln/>
        </p:spPr>
        <p:txBody>
          <a:bodyPr wrap="square" lIns="0" tIns="0" rIns="0" bIns="0" rtlCol="0" anchor="ctr"/>
          <a:lstStyle/>
          <a:p>
            <a:pPr indent="0" marL="0">
              <a:buNone/>
            </a:pPr>
            <a:r>
              <a:rPr lang="en-US" sz="2400" i="1" dirty="0">
                <a:solidFill>
                  <a:srgbClr val="FFFFFF"/>
                </a:solidFill>
                <a:latin typeface="Cambria" pitchFamily="34" charset="0"/>
                <a:ea typeface="Cambria" pitchFamily="34" charset="-122"/>
                <a:cs typeface="Cambria" pitchFamily="34" charset="-120"/>
              </a:rPr>
              <a:t>for the National One Stop Shop</a:t>
            </a:r>
            <a:endParaRPr lang="en-US" sz="2400" dirty="0"/>
          </a:p>
        </p:txBody>
      </p:sp>
      <p:sp>
        <p:nvSpPr>
          <p:cNvPr id="7" name="Text 5"/>
          <p:cNvSpPr/>
          <p:nvPr/>
        </p:nvSpPr>
        <p:spPr>
          <a:xfrm>
            <a:off x="548640" y="2542032"/>
            <a:ext cx="7772400" cy="365760"/>
          </a:xfrm>
          <a:prstGeom prst="rect">
            <a:avLst/>
          </a:prstGeom>
          <a:noFill/>
          <a:ln/>
        </p:spPr>
        <p:txBody>
          <a:bodyPr wrap="square" lIns="0" tIns="0" rIns="0" bIns="0" rtlCol="0" anchor="ctr"/>
          <a:lstStyle/>
          <a:p>
            <a:pPr indent="0" marL="0">
              <a:buNone/>
            </a:pPr>
            <a:r>
              <a:rPr lang="en-US" sz="1600" dirty="0">
                <a:solidFill>
                  <a:srgbClr val="BFD4D9"/>
                </a:solidFill>
                <a:latin typeface="Calibri" pitchFamily="34" charset="0"/>
                <a:ea typeface="Calibri" pitchFamily="34" charset="-122"/>
                <a:cs typeface="Calibri" pitchFamily="34" charset="-120"/>
              </a:rPr>
              <a:t>Clinical Trials &amp; Health-Related Human Research</a:t>
            </a:r>
            <a:endParaRPr lang="en-US" sz="1600" dirty="0"/>
          </a:p>
        </p:txBody>
      </p:sp>
      <p:sp>
        <p:nvSpPr>
          <p:cNvPr id="8" name="Shape 6"/>
          <p:cNvSpPr/>
          <p:nvPr/>
        </p:nvSpPr>
        <p:spPr>
          <a:xfrm>
            <a:off x="548640" y="3291840"/>
            <a:ext cx="36576" cy="457200"/>
          </a:xfrm>
          <a:prstGeom prst="rect">
            <a:avLst/>
          </a:prstGeom>
          <a:solidFill>
            <a:srgbClr val="E0A458"/>
          </a:solidFill>
          <a:ln w="12700">
            <a:solidFill>
              <a:srgbClr val="E0A458"/>
            </a:solidFill>
            <a:prstDash val="solid"/>
          </a:ln>
        </p:spPr>
      </p:sp>
      <p:sp>
        <p:nvSpPr>
          <p:cNvPr id="9" name="Text 7"/>
          <p:cNvSpPr/>
          <p:nvPr/>
        </p:nvSpPr>
        <p:spPr>
          <a:xfrm>
            <a:off x="731520" y="3273552"/>
            <a:ext cx="73152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Domain-Driven Design Blueprint</a:t>
            </a:r>
            <a:endParaRPr lang="en-US" sz="1400" dirty="0"/>
          </a:p>
        </p:txBody>
      </p:sp>
      <p:sp>
        <p:nvSpPr>
          <p:cNvPr id="10" name="Text 8"/>
          <p:cNvSpPr/>
          <p:nvPr/>
        </p:nvSpPr>
        <p:spPr>
          <a:xfrm>
            <a:off x="731520" y="3547872"/>
            <a:ext cx="7315200" cy="274320"/>
          </a:xfrm>
          <a:prstGeom prst="rect">
            <a:avLst/>
          </a:prstGeom>
          <a:noFill/>
          <a:ln/>
        </p:spPr>
        <p:txBody>
          <a:bodyPr wrap="square" lIns="0" tIns="0" rIns="0" bIns="0" rtlCol="0" anchor="ctr"/>
          <a:lstStyle/>
          <a:p>
            <a:pPr indent="0" marL="0">
              <a:buNone/>
            </a:pPr>
            <a:r>
              <a:rPr lang="en-US" sz="1100" i="1" dirty="0">
                <a:solidFill>
                  <a:srgbClr val="BFD4D9"/>
                </a:solidFill>
                <a:latin typeface="Calibri" pitchFamily="34" charset="0"/>
                <a:ea typeface="Calibri" pitchFamily="34" charset="-122"/>
                <a:cs typeface="Calibri" pitchFamily="34" charset="-120"/>
              </a:rPr>
              <a:t>Strategic &amp; tactical model across 7 bounded contexts</a:t>
            </a:r>
            <a:endParaRPr lang="en-US" sz="1100" dirty="0"/>
          </a:p>
        </p:txBody>
      </p:sp>
      <p:sp>
        <p:nvSpPr>
          <p:cNvPr id="11" name="Text 9"/>
          <p:cNvSpPr/>
          <p:nvPr/>
        </p:nvSpPr>
        <p:spPr>
          <a:xfrm>
            <a:off x="548640" y="4572000"/>
            <a:ext cx="365760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Prepared by Senior Data Architect</a:t>
            </a:r>
            <a:endParaRPr lang="en-US" sz="1000" dirty="0"/>
          </a:p>
        </p:txBody>
      </p:sp>
      <p:sp>
        <p:nvSpPr>
          <p:cNvPr id="12" name="Text 10"/>
          <p:cNvSpPr/>
          <p:nvPr/>
        </p:nvSpPr>
        <p:spPr>
          <a:xfrm>
            <a:off x="4023360" y="4572000"/>
            <a:ext cx="3657600" cy="274320"/>
          </a:xfrm>
          <a:prstGeom prst="rect">
            <a:avLst/>
          </a:prstGeom>
          <a:noFill/>
          <a:ln/>
        </p:spPr>
        <p:txBody>
          <a:bodyPr wrap="square" lIns="0" tIns="0" rIns="0" bIns="0" rtlCol="0" anchor="ctr"/>
          <a:lstStyle/>
          <a:p>
            <a:pPr algn="r" indent="0" marL="0">
              <a:buNone/>
            </a:pPr>
            <a:r>
              <a:rPr lang="en-US" sz="1000" dirty="0">
                <a:solidFill>
                  <a:srgbClr val="BFD4D9"/>
                </a:solidFill>
                <a:latin typeface="Calibri" pitchFamily="34" charset="0"/>
                <a:ea typeface="Calibri" pitchFamily="34" charset="-122"/>
                <a:cs typeface="Calibri" pitchFamily="34" charset="-120"/>
              </a:rPr>
              <a:t>Aligned to TGA · NHMRC · ICH-GCP · WHO ICTRP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01  /  EXECUTIVE SUMMARY</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A unified national model for health research</a:t>
            </a:r>
            <a:endParaRPr lang="en-US" sz="2600" dirty="0"/>
          </a:p>
        </p:txBody>
      </p:sp>
      <p:sp>
        <p:nvSpPr>
          <p:cNvPr id="4" name="Text 2"/>
          <p:cNvSpPr/>
          <p:nvPr/>
        </p:nvSpPr>
        <p:spPr>
          <a:xfrm>
            <a:off x="457200" y="1325880"/>
            <a:ext cx="8229600" cy="1097280"/>
          </a:xfrm>
          <a:prstGeom prst="rect">
            <a:avLst/>
          </a:prstGeom>
          <a:noFill/>
          <a:ln/>
        </p:spPr>
        <p:txBody>
          <a:bodyPr wrap="square" lIns="0" tIns="0" rIns="0" bIns="0" rtlCol="0" anchor="ctr"/>
          <a:lstStyle/>
          <a:p>
            <a:pPr indent="0" marL="0">
              <a:spcAft>
                <a:spcPts val="400"/>
              </a:spcAft>
              <a:buNone/>
            </a:pPr>
            <a:r>
              <a:rPr lang="en-US" sz="1200" dirty="0">
                <a:solidFill>
                  <a:srgbClr val="1E293B"/>
                </a:solidFill>
                <a:latin typeface="Calibri" pitchFamily="34" charset="0"/>
                <a:ea typeface="Calibri" pitchFamily="34" charset="-122"/>
                <a:cs typeface="Calibri" pitchFamily="34" charset="-120"/>
              </a:rPr>
              <a:t>The NOSS will replace eight fragmented state and territory approval systems with one national platform spanning ethics, governance, regulatory notification, recruitment and registry. Delivering this requires a single, authoritative data model that is faithful to the language of researchers, regulators and patients — not a federation of legacy schemas.</a:t>
            </a:r>
            <a:endParaRPr lang="en-US" sz="1200" dirty="0"/>
          </a:p>
        </p:txBody>
      </p:sp>
      <p:sp>
        <p:nvSpPr>
          <p:cNvPr id="5" name="Shape 3"/>
          <p:cNvSpPr/>
          <p:nvPr/>
        </p:nvSpPr>
        <p:spPr>
          <a:xfrm>
            <a:off x="457200" y="2606040"/>
            <a:ext cx="1892808" cy="1417320"/>
          </a:xfrm>
          <a:prstGeom prst="rect">
            <a:avLst/>
          </a:prstGeom>
          <a:solidFill>
            <a:srgbClr val="F1F5F4"/>
          </a:solidFill>
          <a:ln w="9525">
            <a:solidFill>
              <a:srgbClr val="D8E2DD"/>
            </a:solidFill>
            <a:prstDash val="solid"/>
          </a:ln>
        </p:spPr>
      </p:sp>
      <p:sp>
        <p:nvSpPr>
          <p:cNvPr id="6" name="Shape 4"/>
          <p:cNvSpPr/>
          <p:nvPr/>
        </p:nvSpPr>
        <p:spPr>
          <a:xfrm>
            <a:off x="457200" y="2606040"/>
            <a:ext cx="54864" cy="1417320"/>
          </a:xfrm>
          <a:prstGeom prst="rect">
            <a:avLst/>
          </a:prstGeom>
          <a:solidFill>
            <a:srgbClr val="E0A458"/>
          </a:solidFill>
          <a:ln w="12700">
            <a:solidFill>
              <a:srgbClr val="E0A458"/>
            </a:solidFill>
            <a:prstDash val="solid"/>
          </a:ln>
        </p:spPr>
      </p:sp>
      <p:sp>
        <p:nvSpPr>
          <p:cNvPr id="7" name="Text 5"/>
          <p:cNvSpPr/>
          <p:nvPr/>
        </p:nvSpPr>
        <p:spPr>
          <a:xfrm>
            <a:off x="594360" y="2670048"/>
            <a:ext cx="1737360" cy="594360"/>
          </a:xfrm>
          <a:prstGeom prst="rect">
            <a:avLst/>
          </a:prstGeom>
          <a:noFill/>
          <a:ln/>
        </p:spPr>
        <p:txBody>
          <a:bodyPr wrap="square" lIns="0" tIns="0" rIns="0" bIns="0" rtlCol="0" anchor="ctr"/>
          <a:lstStyle/>
          <a:p>
            <a:pPr indent="0" marL="0">
              <a:buNone/>
            </a:pPr>
            <a:r>
              <a:rPr lang="en-US" sz="4200" b="1" dirty="0">
                <a:solidFill>
                  <a:srgbClr val="0F4C5C"/>
                </a:solidFill>
                <a:latin typeface="Cambria" pitchFamily="34" charset="0"/>
                <a:ea typeface="Cambria" pitchFamily="34" charset="-122"/>
                <a:cs typeface="Cambria" pitchFamily="34" charset="-120"/>
              </a:rPr>
              <a:t>7</a:t>
            </a:r>
            <a:endParaRPr lang="en-US" sz="4200" dirty="0"/>
          </a:p>
        </p:txBody>
      </p:sp>
      <p:sp>
        <p:nvSpPr>
          <p:cNvPr id="8" name="Text 6"/>
          <p:cNvSpPr/>
          <p:nvPr/>
        </p:nvSpPr>
        <p:spPr>
          <a:xfrm>
            <a:off x="594360" y="3310128"/>
            <a:ext cx="17373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Bounded contexts</a:t>
            </a:r>
            <a:endParaRPr lang="en-US" sz="1100" dirty="0"/>
          </a:p>
        </p:txBody>
      </p:sp>
      <p:sp>
        <p:nvSpPr>
          <p:cNvPr id="9" name="Text 7"/>
          <p:cNvSpPr/>
          <p:nvPr/>
        </p:nvSpPr>
        <p:spPr>
          <a:xfrm>
            <a:off x="594360" y="3584448"/>
            <a:ext cx="1691640"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Strategically separated domains</a:t>
            </a:r>
            <a:endParaRPr lang="en-US" sz="900" dirty="0"/>
          </a:p>
        </p:txBody>
      </p:sp>
      <p:sp>
        <p:nvSpPr>
          <p:cNvPr id="10" name="Shape 8"/>
          <p:cNvSpPr/>
          <p:nvPr/>
        </p:nvSpPr>
        <p:spPr>
          <a:xfrm>
            <a:off x="2532888" y="2606040"/>
            <a:ext cx="1892808" cy="1417320"/>
          </a:xfrm>
          <a:prstGeom prst="rect">
            <a:avLst/>
          </a:prstGeom>
          <a:solidFill>
            <a:srgbClr val="F1F5F4"/>
          </a:solidFill>
          <a:ln w="9525">
            <a:solidFill>
              <a:srgbClr val="D8E2DD"/>
            </a:solidFill>
            <a:prstDash val="solid"/>
          </a:ln>
        </p:spPr>
      </p:sp>
      <p:sp>
        <p:nvSpPr>
          <p:cNvPr id="11" name="Shape 9"/>
          <p:cNvSpPr/>
          <p:nvPr/>
        </p:nvSpPr>
        <p:spPr>
          <a:xfrm>
            <a:off x="2532888" y="2606040"/>
            <a:ext cx="54864" cy="1417320"/>
          </a:xfrm>
          <a:prstGeom prst="rect">
            <a:avLst/>
          </a:prstGeom>
          <a:solidFill>
            <a:srgbClr val="E0A458"/>
          </a:solidFill>
          <a:ln w="12700">
            <a:solidFill>
              <a:srgbClr val="E0A458"/>
            </a:solidFill>
            <a:prstDash val="solid"/>
          </a:ln>
        </p:spPr>
      </p:sp>
      <p:sp>
        <p:nvSpPr>
          <p:cNvPr id="12" name="Text 10"/>
          <p:cNvSpPr/>
          <p:nvPr/>
        </p:nvSpPr>
        <p:spPr>
          <a:xfrm>
            <a:off x="2670048" y="2670048"/>
            <a:ext cx="1737360" cy="594360"/>
          </a:xfrm>
          <a:prstGeom prst="rect">
            <a:avLst/>
          </a:prstGeom>
          <a:noFill/>
          <a:ln/>
        </p:spPr>
        <p:txBody>
          <a:bodyPr wrap="square" lIns="0" tIns="0" rIns="0" bIns="0" rtlCol="0" anchor="ctr"/>
          <a:lstStyle/>
          <a:p>
            <a:pPr indent="0" marL="0">
              <a:buNone/>
            </a:pPr>
            <a:r>
              <a:rPr lang="en-US" sz="4200" b="1" dirty="0">
                <a:solidFill>
                  <a:srgbClr val="0F4C5C"/>
                </a:solidFill>
                <a:latin typeface="Cambria" pitchFamily="34" charset="0"/>
                <a:ea typeface="Cambria" pitchFamily="34" charset="-122"/>
                <a:cs typeface="Cambria" pitchFamily="34" charset="-120"/>
              </a:rPr>
              <a:t>8</a:t>
            </a:r>
            <a:endParaRPr lang="en-US" sz="4200" dirty="0"/>
          </a:p>
        </p:txBody>
      </p:sp>
      <p:sp>
        <p:nvSpPr>
          <p:cNvPr id="13" name="Text 11"/>
          <p:cNvSpPr/>
          <p:nvPr/>
        </p:nvSpPr>
        <p:spPr>
          <a:xfrm>
            <a:off x="2670048" y="3310128"/>
            <a:ext cx="17373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Jurisdictions unified</a:t>
            </a:r>
            <a:endParaRPr lang="en-US" sz="1100" dirty="0"/>
          </a:p>
        </p:txBody>
      </p:sp>
      <p:sp>
        <p:nvSpPr>
          <p:cNvPr id="14" name="Text 12"/>
          <p:cNvSpPr/>
          <p:nvPr/>
        </p:nvSpPr>
        <p:spPr>
          <a:xfrm>
            <a:off x="2670048" y="3584448"/>
            <a:ext cx="1691640"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Federal + 6 states + 2 territories</a:t>
            </a:r>
            <a:endParaRPr lang="en-US" sz="900" dirty="0"/>
          </a:p>
        </p:txBody>
      </p:sp>
      <p:sp>
        <p:nvSpPr>
          <p:cNvPr id="15" name="Shape 13"/>
          <p:cNvSpPr/>
          <p:nvPr/>
        </p:nvSpPr>
        <p:spPr>
          <a:xfrm>
            <a:off x="4608576" y="2606040"/>
            <a:ext cx="1892808" cy="1417320"/>
          </a:xfrm>
          <a:prstGeom prst="rect">
            <a:avLst/>
          </a:prstGeom>
          <a:solidFill>
            <a:srgbClr val="F1F5F4"/>
          </a:solidFill>
          <a:ln w="9525">
            <a:solidFill>
              <a:srgbClr val="D8E2DD"/>
            </a:solidFill>
            <a:prstDash val="solid"/>
          </a:ln>
        </p:spPr>
      </p:sp>
      <p:sp>
        <p:nvSpPr>
          <p:cNvPr id="16" name="Shape 14"/>
          <p:cNvSpPr/>
          <p:nvPr/>
        </p:nvSpPr>
        <p:spPr>
          <a:xfrm>
            <a:off x="4608576" y="2606040"/>
            <a:ext cx="54864" cy="1417320"/>
          </a:xfrm>
          <a:prstGeom prst="rect">
            <a:avLst/>
          </a:prstGeom>
          <a:solidFill>
            <a:srgbClr val="E0A458"/>
          </a:solidFill>
          <a:ln w="12700">
            <a:solidFill>
              <a:srgbClr val="E0A458"/>
            </a:solidFill>
            <a:prstDash val="solid"/>
          </a:ln>
        </p:spPr>
      </p:sp>
      <p:sp>
        <p:nvSpPr>
          <p:cNvPr id="17" name="Text 15"/>
          <p:cNvSpPr/>
          <p:nvPr/>
        </p:nvSpPr>
        <p:spPr>
          <a:xfrm>
            <a:off x="4745736" y="2670048"/>
            <a:ext cx="1737360" cy="594360"/>
          </a:xfrm>
          <a:prstGeom prst="rect">
            <a:avLst/>
          </a:prstGeom>
          <a:noFill/>
          <a:ln/>
        </p:spPr>
        <p:txBody>
          <a:bodyPr wrap="square" lIns="0" tIns="0" rIns="0" bIns="0" rtlCol="0" anchor="ctr"/>
          <a:lstStyle/>
          <a:p>
            <a:pPr indent="0" marL="0">
              <a:buNone/>
            </a:pPr>
            <a:r>
              <a:rPr lang="en-US" sz="4200" b="1" dirty="0">
                <a:solidFill>
                  <a:srgbClr val="0F4C5C"/>
                </a:solidFill>
                <a:latin typeface="Cambria" pitchFamily="34" charset="0"/>
                <a:ea typeface="Cambria" pitchFamily="34" charset="-122"/>
                <a:cs typeface="Cambria" pitchFamily="34" charset="-120"/>
              </a:rPr>
              <a:t>4</a:t>
            </a:r>
            <a:endParaRPr lang="en-US" sz="4200" dirty="0"/>
          </a:p>
        </p:txBody>
      </p:sp>
      <p:sp>
        <p:nvSpPr>
          <p:cNvPr id="18" name="Text 16"/>
          <p:cNvSpPr/>
          <p:nvPr/>
        </p:nvSpPr>
        <p:spPr>
          <a:xfrm>
            <a:off x="4745736" y="3310128"/>
            <a:ext cx="17373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Regulator integrations</a:t>
            </a:r>
            <a:endParaRPr lang="en-US" sz="1100" dirty="0"/>
          </a:p>
        </p:txBody>
      </p:sp>
      <p:sp>
        <p:nvSpPr>
          <p:cNvPr id="19" name="Text 17"/>
          <p:cNvSpPr/>
          <p:nvPr/>
        </p:nvSpPr>
        <p:spPr>
          <a:xfrm>
            <a:off x="4745736" y="3584448"/>
            <a:ext cx="1691640"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TGA, OGTR, NHMRC, AHPRA via ACL</a:t>
            </a:r>
            <a:endParaRPr lang="en-US" sz="900" dirty="0"/>
          </a:p>
        </p:txBody>
      </p:sp>
      <p:sp>
        <p:nvSpPr>
          <p:cNvPr id="20" name="Shape 18"/>
          <p:cNvSpPr/>
          <p:nvPr/>
        </p:nvSpPr>
        <p:spPr>
          <a:xfrm>
            <a:off x="6684264" y="2606040"/>
            <a:ext cx="1892808" cy="1417320"/>
          </a:xfrm>
          <a:prstGeom prst="rect">
            <a:avLst/>
          </a:prstGeom>
          <a:solidFill>
            <a:srgbClr val="F1F5F4"/>
          </a:solidFill>
          <a:ln w="9525">
            <a:solidFill>
              <a:srgbClr val="D8E2DD"/>
            </a:solidFill>
            <a:prstDash val="solid"/>
          </a:ln>
        </p:spPr>
      </p:sp>
      <p:sp>
        <p:nvSpPr>
          <p:cNvPr id="21" name="Shape 19"/>
          <p:cNvSpPr/>
          <p:nvPr/>
        </p:nvSpPr>
        <p:spPr>
          <a:xfrm>
            <a:off x="6684264" y="2606040"/>
            <a:ext cx="54864" cy="1417320"/>
          </a:xfrm>
          <a:prstGeom prst="rect">
            <a:avLst/>
          </a:prstGeom>
          <a:solidFill>
            <a:srgbClr val="E0A458"/>
          </a:solidFill>
          <a:ln w="12700">
            <a:solidFill>
              <a:srgbClr val="E0A458"/>
            </a:solidFill>
            <a:prstDash val="solid"/>
          </a:ln>
        </p:spPr>
      </p:sp>
      <p:sp>
        <p:nvSpPr>
          <p:cNvPr id="22" name="Text 20"/>
          <p:cNvSpPr/>
          <p:nvPr/>
        </p:nvSpPr>
        <p:spPr>
          <a:xfrm>
            <a:off x="6821424" y="2670048"/>
            <a:ext cx="1737360" cy="594360"/>
          </a:xfrm>
          <a:prstGeom prst="rect">
            <a:avLst/>
          </a:prstGeom>
          <a:noFill/>
          <a:ln/>
        </p:spPr>
        <p:txBody>
          <a:bodyPr wrap="square" lIns="0" tIns="0" rIns="0" bIns="0" rtlCol="0" anchor="ctr"/>
          <a:lstStyle/>
          <a:p>
            <a:pPr indent="0" marL="0">
              <a:buNone/>
            </a:pPr>
            <a:r>
              <a:rPr lang="en-US" sz="4200" b="1" dirty="0">
                <a:solidFill>
                  <a:srgbClr val="0F4C5C"/>
                </a:solidFill>
                <a:latin typeface="Cambria" pitchFamily="34" charset="0"/>
                <a:ea typeface="Cambria" pitchFamily="34" charset="-122"/>
                <a:cs typeface="Cambria" pitchFamily="34" charset="-120"/>
              </a:rPr>
              <a:t>1</a:t>
            </a:r>
            <a:endParaRPr lang="en-US" sz="4200" dirty="0"/>
          </a:p>
        </p:txBody>
      </p:sp>
      <p:sp>
        <p:nvSpPr>
          <p:cNvPr id="23" name="Text 21"/>
          <p:cNvSpPr/>
          <p:nvPr/>
        </p:nvSpPr>
        <p:spPr>
          <a:xfrm>
            <a:off x="6821424" y="3310128"/>
            <a:ext cx="17373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WHO ICTRP-compliant</a:t>
            </a:r>
            <a:endParaRPr lang="en-US" sz="1100" dirty="0"/>
          </a:p>
        </p:txBody>
      </p:sp>
      <p:sp>
        <p:nvSpPr>
          <p:cNvPr id="24" name="Text 22"/>
          <p:cNvSpPr/>
          <p:nvPr/>
        </p:nvSpPr>
        <p:spPr>
          <a:xfrm>
            <a:off x="6821424" y="3584448"/>
            <a:ext cx="1691640"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National public trials registry</a:t>
            </a:r>
            <a:endParaRPr lang="en-US" sz="900" dirty="0"/>
          </a:p>
        </p:txBody>
      </p:sp>
      <p:sp>
        <p:nvSpPr>
          <p:cNvPr id="25" name="Text 23"/>
          <p:cNvSpPr/>
          <p:nvPr/>
        </p:nvSpPr>
        <p:spPr>
          <a:xfrm>
            <a:off x="457200" y="4160520"/>
            <a:ext cx="3657600" cy="274320"/>
          </a:xfrm>
          <a:prstGeom prst="rect">
            <a:avLst/>
          </a:prstGeom>
          <a:noFill/>
          <a:ln/>
        </p:spPr>
        <p:txBody>
          <a:bodyPr wrap="square" lIns="0" tIns="0" rIns="0" bIns="0" rtlCol="0" anchor="ctr"/>
          <a:lstStyle/>
          <a:p>
            <a:pPr indent="0" marL="0">
              <a:buNone/>
            </a:pPr>
            <a:r>
              <a:rPr lang="en-US" sz="1100" b="1" dirty="0">
                <a:solidFill>
                  <a:srgbClr val="0F4C5C"/>
                </a:solidFill>
                <a:latin typeface="Cambria" pitchFamily="34" charset="0"/>
                <a:ea typeface="Cambria" pitchFamily="34" charset="-122"/>
                <a:cs typeface="Cambria" pitchFamily="34" charset="-120"/>
              </a:rPr>
              <a:t>Why a domain-driven approach</a:t>
            </a:r>
            <a:endParaRPr lang="en-US" sz="1100" dirty="0"/>
          </a:p>
        </p:txBody>
      </p:sp>
      <p:sp>
        <p:nvSpPr>
          <p:cNvPr id="26" name="Text 24"/>
          <p:cNvSpPr/>
          <p:nvPr/>
        </p:nvSpPr>
        <p:spPr>
          <a:xfrm>
            <a:off x="457200" y="4407408"/>
            <a:ext cx="8229600" cy="4114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Clinical research is a deeply linguistic domain — "protocol", "site", "sponsor", "approval" mean different things to different actors. DDD makes these meanings explicit per context, enabling federated delivery without semantic drift.</a:t>
            </a:r>
            <a:endParaRPr lang="en-US" sz="1000" dirty="0"/>
          </a:p>
        </p:txBody>
      </p:sp>
      <p:sp>
        <p:nvSpPr>
          <p:cNvPr id="27" name="Text 25"/>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8" name="Text 26"/>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02  /  STRATEGIC CONTEXT</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From fragmentation to a national operating model</a:t>
            </a:r>
            <a:endParaRPr lang="en-US" sz="2600" dirty="0"/>
          </a:p>
        </p:txBody>
      </p:sp>
      <p:sp>
        <p:nvSpPr>
          <p:cNvPr id="4" name="Shape 2"/>
          <p:cNvSpPr/>
          <p:nvPr/>
        </p:nvSpPr>
        <p:spPr>
          <a:xfrm>
            <a:off x="457200" y="1371600"/>
            <a:ext cx="4023360" cy="3200400"/>
          </a:xfrm>
          <a:prstGeom prst="rect">
            <a:avLst/>
          </a:prstGeom>
          <a:solidFill>
            <a:srgbClr val="F8F1EB"/>
          </a:solidFill>
          <a:ln w="9525">
            <a:solidFill>
              <a:srgbClr val="EBD9C7"/>
            </a:solidFill>
            <a:prstDash val="solid"/>
          </a:ln>
        </p:spPr>
      </p:sp>
      <p:sp>
        <p:nvSpPr>
          <p:cNvPr id="5" name="Text 3"/>
          <p:cNvSpPr/>
          <p:nvPr/>
        </p:nvSpPr>
        <p:spPr>
          <a:xfrm>
            <a:off x="640080" y="1508760"/>
            <a:ext cx="3657600" cy="274320"/>
          </a:xfrm>
          <a:prstGeom prst="rect">
            <a:avLst/>
          </a:prstGeom>
          <a:noFill/>
          <a:ln/>
        </p:spPr>
        <p:txBody>
          <a:bodyPr wrap="square" lIns="0" tIns="0" rIns="0" bIns="0" rtlCol="0" anchor="ctr"/>
          <a:lstStyle/>
          <a:p>
            <a:pPr indent="0" marL="0">
              <a:buNone/>
            </a:pPr>
            <a:r>
              <a:rPr lang="en-US" sz="1000" b="1" spc="300" kern="0" dirty="0">
                <a:solidFill>
                  <a:srgbClr val="B07F39"/>
                </a:solidFill>
                <a:latin typeface="Calibri" pitchFamily="34" charset="0"/>
                <a:ea typeface="Calibri" pitchFamily="34" charset="-122"/>
                <a:cs typeface="Calibri" pitchFamily="34" charset="-120"/>
              </a:rPr>
              <a:t>CURRENT STATE</a:t>
            </a:r>
            <a:endParaRPr lang="en-US" sz="1000" dirty="0"/>
          </a:p>
        </p:txBody>
      </p:sp>
      <p:sp>
        <p:nvSpPr>
          <p:cNvPr id="6" name="Text 4"/>
          <p:cNvSpPr/>
          <p:nvPr/>
        </p:nvSpPr>
        <p:spPr>
          <a:xfrm>
            <a:off x="640080" y="1737360"/>
            <a:ext cx="3657600" cy="365760"/>
          </a:xfrm>
          <a:prstGeom prst="rect">
            <a:avLst/>
          </a:prstGeom>
          <a:noFill/>
          <a:ln/>
        </p:spPr>
        <p:txBody>
          <a:bodyPr wrap="square" lIns="0" tIns="0" rIns="0" bIns="0" rtlCol="0" anchor="ctr"/>
          <a:lstStyle/>
          <a:p>
            <a:pPr indent="0" marL="0">
              <a:buNone/>
            </a:pPr>
            <a:r>
              <a:rPr lang="en-US" sz="1600" b="1" dirty="0">
                <a:solidFill>
                  <a:srgbClr val="0F4C5C"/>
                </a:solidFill>
                <a:latin typeface="Cambria" pitchFamily="34" charset="0"/>
                <a:ea typeface="Cambria" pitchFamily="34" charset="-122"/>
                <a:cs typeface="Cambria" pitchFamily="34" charset="-120"/>
              </a:rPr>
              <a:t>A fragmented landscape</a:t>
            </a:r>
            <a:endParaRPr lang="en-US" sz="1600" dirty="0"/>
          </a:p>
        </p:txBody>
      </p:sp>
      <p:sp>
        <p:nvSpPr>
          <p:cNvPr id="7" name="Text 5"/>
          <p:cNvSpPr/>
          <p:nvPr/>
        </p:nvSpPr>
        <p:spPr>
          <a:xfrm>
            <a:off x="640080" y="2148840"/>
            <a:ext cx="370332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Distinct systems per jurisdiction — REGIS (NSW/ACT/TAS), RGS (WA), eHRG (SA), ERM (VIC/QLD/NT)</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Duplicate submissions for multi-site trials; manual re-keying across portals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No single authoritative party register — investigators re-enter credentials site by site</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ANZCTR registry decoupled from approval workflow; data sharing statements often missed</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Limited public visibility of trials in progress; weak participant-facing channels</a:t>
            </a:r>
            <a:endParaRPr lang="en-US" sz="1000" dirty="0"/>
          </a:p>
        </p:txBody>
      </p:sp>
      <p:sp>
        <p:nvSpPr>
          <p:cNvPr id="8" name="Shape 6"/>
          <p:cNvSpPr/>
          <p:nvPr/>
        </p:nvSpPr>
        <p:spPr>
          <a:xfrm>
            <a:off x="4663440" y="1371600"/>
            <a:ext cx="4023360" cy="3200400"/>
          </a:xfrm>
          <a:prstGeom prst="rect">
            <a:avLst/>
          </a:prstGeom>
          <a:solidFill>
            <a:srgbClr val="F1F5F4"/>
          </a:solidFill>
          <a:ln w="9525">
            <a:solidFill>
              <a:srgbClr val="D8E2DD"/>
            </a:solidFill>
            <a:prstDash val="solid"/>
          </a:ln>
        </p:spPr>
      </p:sp>
      <p:sp>
        <p:nvSpPr>
          <p:cNvPr id="9" name="Text 7"/>
          <p:cNvSpPr/>
          <p:nvPr/>
        </p:nvSpPr>
        <p:spPr>
          <a:xfrm>
            <a:off x="4846320" y="1508760"/>
            <a:ext cx="3657600" cy="274320"/>
          </a:xfrm>
          <a:prstGeom prst="rect">
            <a:avLst/>
          </a:prstGeom>
          <a:noFill/>
          <a:ln/>
        </p:spPr>
        <p:txBody>
          <a:bodyPr wrap="square" lIns="0" tIns="0" rIns="0" bIns="0" rtlCol="0" anchor="ctr"/>
          <a:lstStyle/>
          <a:p>
            <a:pPr indent="0" marL="0">
              <a:buNone/>
            </a:pPr>
            <a:r>
              <a:rPr lang="en-US" sz="1000" b="1" spc="300" kern="0" dirty="0">
                <a:solidFill>
                  <a:srgbClr val="5F7F65"/>
                </a:solidFill>
                <a:latin typeface="Calibri" pitchFamily="34" charset="0"/>
                <a:ea typeface="Calibri" pitchFamily="34" charset="-122"/>
                <a:cs typeface="Calibri" pitchFamily="34" charset="-120"/>
              </a:rPr>
              <a:t>TARGET STATE</a:t>
            </a:r>
            <a:endParaRPr lang="en-US" sz="1000" dirty="0"/>
          </a:p>
        </p:txBody>
      </p:sp>
      <p:sp>
        <p:nvSpPr>
          <p:cNvPr id="10" name="Text 8"/>
          <p:cNvSpPr/>
          <p:nvPr/>
        </p:nvSpPr>
        <p:spPr>
          <a:xfrm>
            <a:off x="4846320" y="1737360"/>
            <a:ext cx="3657600" cy="365760"/>
          </a:xfrm>
          <a:prstGeom prst="rect">
            <a:avLst/>
          </a:prstGeom>
          <a:noFill/>
          <a:ln/>
        </p:spPr>
        <p:txBody>
          <a:bodyPr wrap="square" lIns="0" tIns="0" rIns="0" bIns="0" rtlCol="0" anchor="ctr"/>
          <a:lstStyle/>
          <a:p>
            <a:pPr indent="0" marL="0">
              <a:buNone/>
            </a:pPr>
            <a:r>
              <a:rPr lang="en-US" sz="1600" b="1" dirty="0">
                <a:solidFill>
                  <a:srgbClr val="0F4C5C"/>
                </a:solidFill>
                <a:latin typeface="Cambria" pitchFamily="34" charset="0"/>
                <a:ea typeface="Cambria" pitchFamily="34" charset="-122"/>
                <a:cs typeface="Cambria" pitchFamily="34" charset="-120"/>
              </a:rPr>
              <a:t>One national platform, federated delivery</a:t>
            </a:r>
            <a:endParaRPr lang="en-US" sz="1600" dirty="0"/>
          </a:p>
        </p:txBody>
      </p:sp>
      <p:sp>
        <p:nvSpPr>
          <p:cNvPr id="11" name="Text 9"/>
          <p:cNvSpPr/>
          <p:nvPr/>
        </p:nvSpPr>
        <p:spPr>
          <a:xfrm>
            <a:off x="4846320" y="2148840"/>
            <a:ext cx="370332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Single national identity for parties — sponsors, investigators, HRECs, participants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One ethics application; site-specific authorisations derived, not re-entered</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Embedded TGA CTN/CTA and OGTR submissions via Anti-Corruption Layers</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Automated WHO ICTRP-compliant registration on ethics approval</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Public trial-finder for participants with eConsent and recruitment workflows</a:t>
            </a:r>
            <a:endParaRPr lang="en-US" sz="1000" dirty="0"/>
          </a:p>
        </p:txBody>
      </p:sp>
      <p:sp>
        <p:nvSpPr>
          <p:cNvPr id="12" name="Text 1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13" name="Text 1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03  /  METHODOLOGY</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Domain-Driven Design — strategic &amp; tactical</a:t>
            </a:r>
            <a:endParaRPr lang="en-US" sz="2600" dirty="0"/>
          </a:p>
        </p:txBody>
      </p:sp>
      <p:sp>
        <p:nvSpPr>
          <p:cNvPr id="4" name="Text 2"/>
          <p:cNvSpPr/>
          <p:nvPr/>
        </p:nvSpPr>
        <p:spPr>
          <a:xfrm>
            <a:off x="457200" y="1234440"/>
            <a:ext cx="8229600" cy="64008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DDD treats software complexity as fundamentally linguistic. By aligning code, data and conversation around a Ubiquitous Language inside explicit Bounded Contexts, NOSS can integrate disparate stakeholders without collapsing their meanings into a brittle universal schema.</a:t>
            </a:r>
            <a:endParaRPr lang="en-US" sz="1050" dirty="0"/>
          </a:p>
        </p:txBody>
      </p:sp>
      <p:pic>
        <p:nvPicPr>
          <p:cNvPr id="5" name="Image 0" descr="preencoded.png">    </p:cNvPr>
          <p:cNvPicPr>
            <a:picLocks noChangeAspect="1"/>
          </p:cNvPicPr>
          <p:nvPr/>
        </p:nvPicPr>
        <p:blipFill>
          <a:blip r:embed="rId1"/>
          <a:stretch>
            <a:fillRect/>
          </a:stretch>
        </p:blipFill>
        <p:spPr>
          <a:xfrm>
            <a:off x="502920" y="2103120"/>
            <a:ext cx="292608" cy="292608"/>
          </a:xfrm>
          <a:prstGeom prst="rect">
            <a:avLst/>
          </a:prstGeom>
        </p:spPr>
      </p:pic>
      <p:sp>
        <p:nvSpPr>
          <p:cNvPr id="6" name="Text 3"/>
          <p:cNvSpPr/>
          <p:nvPr/>
        </p:nvSpPr>
        <p:spPr>
          <a:xfrm>
            <a:off x="868680" y="2057400"/>
            <a:ext cx="3657600" cy="365760"/>
          </a:xfrm>
          <a:prstGeom prst="rect">
            <a:avLst/>
          </a:prstGeom>
          <a:noFill/>
          <a:ln/>
        </p:spPr>
        <p:txBody>
          <a:bodyPr wrap="square" lIns="0" tIns="0" rIns="0" bIns="0" rtlCol="0" anchor="ctr"/>
          <a:lstStyle/>
          <a:p>
            <a:pPr indent="0" marL="0">
              <a:buNone/>
            </a:pPr>
            <a:r>
              <a:rPr lang="en-US" sz="1600" b="1" dirty="0">
                <a:solidFill>
                  <a:srgbClr val="0F4C5C"/>
                </a:solidFill>
                <a:latin typeface="Cambria" pitchFamily="34" charset="0"/>
                <a:ea typeface="Cambria" pitchFamily="34" charset="-122"/>
                <a:cs typeface="Cambria" pitchFamily="34" charset="-120"/>
              </a:rPr>
              <a:t>Strategic Design</a:t>
            </a:r>
            <a:endParaRPr lang="en-US" sz="1600" dirty="0"/>
          </a:p>
        </p:txBody>
      </p:sp>
      <p:sp>
        <p:nvSpPr>
          <p:cNvPr id="7" name="Shape 4"/>
          <p:cNvSpPr/>
          <p:nvPr/>
        </p:nvSpPr>
        <p:spPr>
          <a:xfrm>
            <a:off x="502920" y="2596896"/>
            <a:ext cx="54864" cy="347472"/>
          </a:xfrm>
          <a:prstGeom prst="rect">
            <a:avLst/>
          </a:prstGeom>
          <a:solidFill>
            <a:srgbClr val="5F7F65"/>
          </a:solidFill>
          <a:ln w="12700">
            <a:solidFill>
              <a:srgbClr val="5F7F65"/>
            </a:solidFill>
            <a:prstDash val="solid"/>
          </a:ln>
        </p:spPr>
      </p:sp>
      <p:sp>
        <p:nvSpPr>
          <p:cNvPr id="8" name="Text 5"/>
          <p:cNvSpPr/>
          <p:nvPr/>
        </p:nvSpPr>
        <p:spPr>
          <a:xfrm>
            <a:off x="640080" y="2560320"/>
            <a:ext cx="146304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Bounded Contexts</a:t>
            </a:r>
            <a:endParaRPr lang="en-US" sz="1000" dirty="0"/>
          </a:p>
        </p:txBody>
      </p:sp>
      <p:sp>
        <p:nvSpPr>
          <p:cNvPr id="9" name="Text 6"/>
          <p:cNvSpPr/>
          <p:nvPr/>
        </p:nvSpPr>
        <p:spPr>
          <a:xfrm>
            <a:off x="640080" y="27523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Explicit linguistic &amp; model boundaries — one model per context</a:t>
            </a:r>
            <a:endParaRPr lang="en-US" sz="900" dirty="0"/>
          </a:p>
        </p:txBody>
      </p:sp>
      <p:sp>
        <p:nvSpPr>
          <p:cNvPr id="10" name="Shape 7"/>
          <p:cNvSpPr/>
          <p:nvPr/>
        </p:nvSpPr>
        <p:spPr>
          <a:xfrm>
            <a:off x="502920" y="3054096"/>
            <a:ext cx="54864" cy="347472"/>
          </a:xfrm>
          <a:prstGeom prst="rect">
            <a:avLst/>
          </a:prstGeom>
          <a:solidFill>
            <a:srgbClr val="5F7F65"/>
          </a:solidFill>
          <a:ln w="12700">
            <a:solidFill>
              <a:srgbClr val="5F7F65"/>
            </a:solidFill>
            <a:prstDash val="solid"/>
          </a:ln>
        </p:spPr>
      </p:sp>
      <p:sp>
        <p:nvSpPr>
          <p:cNvPr id="11" name="Text 8"/>
          <p:cNvSpPr/>
          <p:nvPr/>
        </p:nvSpPr>
        <p:spPr>
          <a:xfrm>
            <a:off x="640080" y="3017520"/>
            <a:ext cx="146304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Ubiquitous Language</a:t>
            </a:r>
            <a:endParaRPr lang="en-US" sz="1000" dirty="0"/>
          </a:p>
        </p:txBody>
      </p:sp>
      <p:sp>
        <p:nvSpPr>
          <p:cNvPr id="12" name="Text 9"/>
          <p:cNvSpPr/>
          <p:nvPr/>
        </p:nvSpPr>
        <p:spPr>
          <a:xfrm>
            <a:off x="640080" y="32095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Shared vocabulary inside a context; translated at boundaries</a:t>
            </a:r>
            <a:endParaRPr lang="en-US" sz="900" dirty="0"/>
          </a:p>
        </p:txBody>
      </p:sp>
      <p:sp>
        <p:nvSpPr>
          <p:cNvPr id="13" name="Shape 10"/>
          <p:cNvSpPr/>
          <p:nvPr/>
        </p:nvSpPr>
        <p:spPr>
          <a:xfrm>
            <a:off x="502920" y="3511296"/>
            <a:ext cx="54864" cy="347472"/>
          </a:xfrm>
          <a:prstGeom prst="rect">
            <a:avLst/>
          </a:prstGeom>
          <a:solidFill>
            <a:srgbClr val="5F7F65"/>
          </a:solidFill>
          <a:ln w="12700">
            <a:solidFill>
              <a:srgbClr val="5F7F65"/>
            </a:solidFill>
            <a:prstDash val="solid"/>
          </a:ln>
        </p:spPr>
      </p:sp>
      <p:sp>
        <p:nvSpPr>
          <p:cNvPr id="14" name="Text 11"/>
          <p:cNvSpPr/>
          <p:nvPr/>
        </p:nvSpPr>
        <p:spPr>
          <a:xfrm>
            <a:off x="640080" y="3474720"/>
            <a:ext cx="146304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Context Map</a:t>
            </a:r>
            <a:endParaRPr lang="en-US" sz="1000" dirty="0"/>
          </a:p>
        </p:txBody>
      </p:sp>
      <p:sp>
        <p:nvSpPr>
          <p:cNvPr id="15" name="Text 12"/>
          <p:cNvSpPr/>
          <p:nvPr/>
        </p:nvSpPr>
        <p:spPr>
          <a:xfrm>
            <a:off x="640080" y="36667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Documented relationships: U/D, C/S, Conformist, ACL, OHS</a:t>
            </a:r>
            <a:endParaRPr lang="en-US" sz="900" dirty="0"/>
          </a:p>
        </p:txBody>
      </p:sp>
      <p:sp>
        <p:nvSpPr>
          <p:cNvPr id="16" name="Shape 13"/>
          <p:cNvSpPr/>
          <p:nvPr/>
        </p:nvSpPr>
        <p:spPr>
          <a:xfrm>
            <a:off x="502920" y="3968496"/>
            <a:ext cx="54864" cy="347472"/>
          </a:xfrm>
          <a:prstGeom prst="rect">
            <a:avLst/>
          </a:prstGeom>
          <a:solidFill>
            <a:srgbClr val="5F7F65"/>
          </a:solidFill>
          <a:ln w="12700">
            <a:solidFill>
              <a:srgbClr val="5F7F65"/>
            </a:solidFill>
            <a:prstDash val="solid"/>
          </a:ln>
        </p:spPr>
      </p:sp>
      <p:sp>
        <p:nvSpPr>
          <p:cNvPr id="17" name="Text 14"/>
          <p:cNvSpPr/>
          <p:nvPr/>
        </p:nvSpPr>
        <p:spPr>
          <a:xfrm>
            <a:off x="640080" y="3931920"/>
            <a:ext cx="146304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Sub-domains</a:t>
            </a:r>
            <a:endParaRPr lang="en-US" sz="1000" dirty="0"/>
          </a:p>
        </p:txBody>
      </p:sp>
      <p:sp>
        <p:nvSpPr>
          <p:cNvPr id="18" name="Text 15"/>
          <p:cNvSpPr/>
          <p:nvPr/>
        </p:nvSpPr>
        <p:spPr>
          <a:xfrm>
            <a:off x="640080" y="41239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Core / Supporting / Generic — guides build vs buy vs reuse</a:t>
            </a:r>
            <a:endParaRPr lang="en-US" sz="900" dirty="0"/>
          </a:p>
        </p:txBody>
      </p:sp>
      <p:pic>
        <p:nvPicPr>
          <p:cNvPr id="19" name="Image 1" descr="preencoded.png">    </p:cNvPr>
          <p:cNvPicPr>
            <a:picLocks noChangeAspect="1"/>
          </p:cNvPicPr>
          <p:nvPr/>
        </p:nvPicPr>
        <p:blipFill>
          <a:blip r:embed="rId2"/>
          <a:stretch>
            <a:fillRect/>
          </a:stretch>
        </p:blipFill>
        <p:spPr>
          <a:xfrm>
            <a:off x="4709160" y="2103120"/>
            <a:ext cx="292608" cy="292608"/>
          </a:xfrm>
          <a:prstGeom prst="rect">
            <a:avLst/>
          </a:prstGeom>
        </p:spPr>
      </p:pic>
      <p:sp>
        <p:nvSpPr>
          <p:cNvPr id="20" name="Text 16"/>
          <p:cNvSpPr/>
          <p:nvPr/>
        </p:nvSpPr>
        <p:spPr>
          <a:xfrm>
            <a:off x="5074920" y="2057400"/>
            <a:ext cx="3657600" cy="365760"/>
          </a:xfrm>
          <a:prstGeom prst="rect">
            <a:avLst/>
          </a:prstGeom>
          <a:noFill/>
          <a:ln/>
        </p:spPr>
        <p:txBody>
          <a:bodyPr wrap="square" lIns="0" tIns="0" rIns="0" bIns="0" rtlCol="0" anchor="ctr"/>
          <a:lstStyle/>
          <a:p>
            <a:pPr indent="0" marL="0">
              <a:buNone/>
            </a:pPr>
            <a:r>
              <a:rPr lang="en-US" sz="1600" b="1" dirty="0">
                <a:solidFill>
                  <a:srgbClr val="0F4C5C"/>
                </a:solidFill>
                <a:latin typeface="Cambria" pitchFamily="34" charset="0"/>
                <a:ea typeface="Cambria" pitchFamily="34" charset="-122"/>
                <a:cs typeface="Cambria" pitchFamily="34" charset="-120"/>
              </a:rPr>
              <a:t>Tactical Design</a:t>
            </a:r>
            <a:endParaRPr lang="en-US" sz="1600" dirty="0"/>
          </a:p>
        </p:txBody>
      </p:sp>
      <p:sp>
        <p:nvSpPr>
          <p:cNvPr id="21" name="Shape 17"/>
          <p:cNvSpPr/>
          <p:nvPr/>
        </p:nvSpPr>
        <p:spPr>
          <a:xfrm>
            <a:off x="4709160" y="2596896"/>
            <a:ext cx="54864" cy="347472"/>
          </a:xfrm>
          <a:prstGeom prst="rect">
            <a:avLst/>
          </a:prstGeom>
          <a:solidFill>
            <a:srgbClr val="E0A458"/>
          </a:solidFill>
          <a:ln w="12700">
            <a:solidFill>
              <a:srgbClr val="E0A458"/>
            </a:solidFill>
            <a:prstDash val="solid"/>
          </a:ln>
        </p:spPr>
      </p:sp>
      <p:sp>
        <p:nvSpPr>
          <p:cNvPr id="22" name="Text 18"/>
          <p:cNvSpPr/>
          <p:nvPr/>
        </p:nvSpPr>
        <p:spPr>
          <a:xfrm>
            <a:off x="4846320" y="2560320"/>
            <a:ext cx="201168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Aggregates</a:t>
            </a:r>
            <a:endParaRPr lang="en-US" sz="1000" dirty="0"/>
          </a:p>
        </p:txBody>
      </p:sp>
      <p:sp>
        <p:nvSpPr>
          <p:cNvPr id="23" name="Text 19"/>
          <p:cNvSpPr/>
          <p:nvPr/>
        </p:nvSpPr>
        <p:spPr>
          <a:xfrm>
            <a:off x="4846320" y="27523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Consistency boundaries; one root per transaction</a:t>
            </a:r>
            <a:endParaRPr lang="en-US" sz="900" dirty="0"/>
          </a:p>
        </p:txBody>
      </p:sp>
      <p:sp>
        <p:nvSpPr>
          <p:cNvPr id="24" name="Shape 20"/>
          <p:cNvSpPr/>
          <p:nvPr/>
        </p:nvSpPr>
        <p:spPr>
          <a:xfrm>
            <a:off x="4709160" y="3054096"/>
            <a:ext cx="54864" cy="347472"/>
          </a:xfrm>
          <a:prstGeom prst="rect">
            <a:avLst/>
          </a:prstGeom>
          <a:solidFill>
            <a:srgbClr val="E0A458"/>
          </a:solidFill>
          <a:ln w="12700">
            <a:solidFill>
              <a:srgbClr val="E0A458"/>
            </a:solidFill>
            <a:prstDash val="solid"/>
          </a:ln>
        </p:spPr>
      </p:sp>
      <p:sp>
        <p:nvSpPr>
          <p:cNvPr id="25" name="Text 21"/>
          <p:cNvSpPr/>
          <p:nvPr/>
        </p:nvSpPr>
        <p:spPr>
          <a:xfrm>
            <a:off x="4846320" y="3017520"/>
            <a:ext cx="201168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Entities &amp; VOs</a:t>
            </a:r>
            <a:endParaRPr lang="en-US" sz="1000" dirty="0"/>
          </a:p>
        </p:txBody>
      </p:sp>
      <p:sp>
        <p:nvSpPr>
          <p:cNvPr id="26" name="Text 22"/>
          <p:cNvSpPr/>
          <p:nvPr/>
        </p:nvSpPr>
        <p:spPr>
          <a:xfrm>
            <a:off x="4846320" y="32095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Identity vs immutable values; e.g. Person vs Address</a:t>
            </a:r>
            <a:endParaRPr lang="en-US" sz="900" dirty="0"/>
          </a:p>
        </p:txBody>
      </p:sp>
      <p:sp>
        <p:nvSpPr>
          <p:cNvPr id="27" name="Shape 23"/>
          <p:cNvSpPr/>
          <p:nvPr/>
        </p:nvSpPr>
        <p:spPr>
          <a:xfrm>
            <a:off x="4709160" y="3511296"/>
            <a:ext cx="54864" cy="347472"/>
          </a:xfrm>
          <a:prstGeom prst="rect">
            <a:avLst/>
          </a:prstGeom>
          <a:solidFill>
            <a:srgbClr val="E0A458"/>
          </a:solidFill>
          <a:ln w="12700">
            <a:solidFill>
              <a:srgbClr val="E0A458"/>
            </a:solidFill>
            <a:prstDash val="solid"/>
          </a:ln>
        </p:spPr>
      </p:sp>
      <p:sp>
        <p:nvSpPr>
          <p:cNvPr id="28" name="Text 24"/>
          <p:cNvSpPr/>
          <p:nvPr/>
        </p:nvSpPr>
        <p:spPr>
          <a:xfrm>
            <a:off x="4846320" y="3474720"/>
            <a:ext cx="201168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Domain Events</a:t>
            </a:r>
            <a:endParaRPr lang="en-US" sz="1000" dirty="0"/>
          </a:p>
        </p:txBody>
      </p:sp>
      <p:sp>
        <p:nvSpPr>
          <p:cNvPr id="29" name="Text 25"/>
          <p:cNvSpPr/>
          <p:nvPr/>
        </p:nvSpPr>
        <p:spPr>
          <a:xfrm>
            <a:off x="4846320" y="36667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Past-tense facts published across contexts</a:t>
            </a:r>
            <a:endParaRPr lang="en-US" sz="900" dirty="0"/>
          </a:p>
        </p:txBody>
      </p:sp>
      <p:sp>
        <p:nvSpPr>
          <p:cNvPr id="30" name="Shape 26"/>
          <p:cNvSpPr/>
          <p:nvPr/>
        </p:nvSpPr>
        <p:spPr>
          <a:xfrm>
            <a:off x="4709160" y="3968496"/>
            <a:ext cx="54864" cy="347472"/>
          </a:xfrm>
          <a:prstGeom prst="rect">
            <a:avLst/>
          </a:prstGeom>
          <a:solidFill>
            <a:srgbClr val="E0A458"/>
          </a:solidFill>
          <a:ln w="12700">
            <a:solidFill>
              <a:srgbClr val="E0A458"/>
            </a:solidFill>
            <a:prstDash val="solid"/>
          </a:ln>
        </p:spPr>
      </p:sp>
      <p:sp>
        <p:nvSpPr>
          <p:cNvPr id="31" name="Text 27"/>
          <p:cNvSpPr/>
          <p:nvPr/>
        </p:nvSpPr>
        <p:spPr>
          <a:xfrm>
            <a:off x="4846320" y="3931920"/>
            <a:ext cx="2011680" cy="201168"/>
          </a:xfrm>
          <a:prstGeom prst="rect">
            <a:avLst/>
          </a:prstGeom>
          <a:noFill/>
          <a:ln/>
        </p:spPr>
        <p:txBody>
          <a:bodyPr wrap="square" lIns="0" tIns="0" rIns="0" bIns="0" rtlCol="0" anchor="ctr"/>
          <a:lstStyle/>
          <a:p>
            <a:pPr indent="0" marL="0">
              <a:buNone/>
            </a:pPr>
            <a:r>
              <a:rPr lang="en-US" sz="1000" b="1" dirty="0">
                <a:solidFill>
                  <a:srgbClr val="0F4C5C"/>
                </a:solidFill>
                <a:latin typeface="Calibri" pitchFamily="34" charset="0"/>
                <a:ea typeface="Calibri" pitchFamily="34" charset="-122"/>
                <a:cs typeface="Calibri" pitchFamily="34" charset="-120"/>
              </a:rPr>
              <a:t>Repositories &amp; Services</a:t>
            </a:r>
            <a:endParaRPr lang="en-US" sz="1000" dirty="0"/>
          </a:p>
        </p:txBody>
      </p:sp>
      <p:sp>
        <p:nvSpPr>
          <p:cNvPr id="32" name="Text 28"/>
          <p:cNvSpPr/>
          <p:nvPr/>
        </p:nvSpPr>
        <p:spPr>
          <a:xfrm>
            <a:off x="4846320" y="4123944"/>
            <a:ext cx="365760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Persistence behind interfaces; behaviour over CRUD</a:t>
            </a:r>
            <a:endParaRPr lang="en-US" sz="900" dirty="0"/>
          </a:p>
        </p:txBody>
      </p:sp>
      <p:sp>
        <p:nvSpPr>
          <p:cNvPr id="33" name="Text 29"/>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34" name="Text 30"/>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4 / 18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04  /  UBIQUITOUS LANGUAGE</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Anchored to TGA, NHMRC, ICH-GCP, CDISC, WHO ICTRP</a:t>
            </a:r>
            <a:endParaRPr lang="en-US" sz="2600" dirty="0"/>
          </a:p>
        </p:txBody>
      </p:sp>
      <p:sp>
        <p:nvSpPr>
          <p:cNvPr id="4" name="Text 2"/>
          <p:cNvSpPr/>
          <p:nvPr/>
        </p:nvSpPr>
        <p:spPr>
          <a:xfrm>
            <a:off x="457200" y="1234440"/>
            <a:ext cx="822960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 term means the same thing inside its bounded context and is translated explicitly at boundaries. Examples below show canonical definitions aligned to the regulatory and standards corpus.</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463040"/>
                <a:gridCol w="4937760"/>
                <a:gridCol w="182880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Definition (in NOSS canonical form)</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 / Standard</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Study</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A protocol-driven scientific investigation (also "trial", "research project")</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ICH E6 R3 / CDISC</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Site</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The physical / institutional location where a study is conducted under an SSA</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NHMRC / NCTGF</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Sponsor</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Party that takes legal responsibility for a clinical trial in Australia</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TGA Handbook</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HREC</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Human Research Ethics Committee — independent ethical review body</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NHMRC National Statement</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CTN / CTA</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Clinical Trial Notification / Approval scheme for unapproved therapeutic goods</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TGA</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SSA</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Site-Specific Assessment — governance authorisation by the approving authority</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NHMRC / Jurisdictional</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Participant</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An individual who consents to take part in human research (the "subject")</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National Statement 2023</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92608">
                <a:tc>
                  <a:txBody>
                    <a:bodyPr/>
                    <a:lstStyle/>
                    <a:p>
                      <a:pPr indent="0" marL="0">
                        <a:buNone/>
                      </a:pPr>
                      <a:r>
                        <a:rPr lang="en-US" sz="950" b="1" dirty="0">
                          <a:solidFill>
                            <a:srgbClr val="0F4C5C"/>
                          </a:solidFill>
                          <a:latin typeface="Calibri" pitchFamily="34" charset="0"/>
                          <a:ea typeface="Calibri" pitchFamily="34" charset="-122"/>
                          <a:cs typeface="Calibri" pitchFamily="34" charset="-120"/>
                        </a:rPr>
                        <a:t>Registry Record</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Calibri" pitchFamily="34" charset="0"/>
                          <a:ea typeface="Calibri" pitchFamily="34" charset="-122"/>
                          <a:cs typeface="Calibri" pitchFamily="34" charset="-120"/>
                        </a:rPr>
                        <a:t>Public-facing trial summary meeting WHO ICTRP TRDS</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50" i="1" dirty="0">
                          <a:solidFill>
                            <a:srgbClr val="64748B"/>
                          </a:solidFill>
                          <a:latin typeface="Calibri" pitchFamily="34" charset="0"/>
                          <a:ea typeface="Calibri" pitchFamily="34" charset="-122"/>
                          <a:cs typeface="Calibri" pitchFamily="34" charset="-120"/>
                        </a:rPr>
                        <a:t>WHO ICTRP</a:t>
                      </a:r>
                      <a:endParaRPr lang="en-US" sz="95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7" name="Text 4"/>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5 / 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05  /  DOMAIN LANDSCAPE</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Seven bounded contexts of the NOSS model</a:t>
            </a:r>
            <a:endParaRPr lang="en-US" sz="2600" dirty="0"/>
          </a:p>
        </p:txBody>
      </p:sp>
      <p:sp>
        <p:nvSpPr>
          <p:cNvPr id="4" name="Shape 2"/>
          <p:cNvSpPr/>
          <p:nvPr/>
        </p:nvSpPr>
        <p:spPr>
          <a:xfrm>
            <a:off x="498348" y="1325880"/>
            <a:ext cx="1947672" cy="1554480"/>
          </a:xfrm>
          <a:prstGeom prst="rect">
            <a:avLst/>
          </a:prstGeom>
          <a:solidFill>
            <a:srgbClr val="F1F5F4"/>
          </a:solidFill>
          <a:ln w="9525">
            <a:solidFill>
              <a:srgbClr val="D8E2DD"/>
            </a:solidFill>
            <a:prstDash val="solid"/>
          </a:ln>
        </p:spPr>
      </p:sp>
      <p:sp>
        <p:nvSpPr>
          <p:cNvPr id="5" name="Shape 3"/>
          <p:cNvSpPr/>
          <p:nvPr/>
        </p:nvSpPr>
        <p:spPr>
          <a:xfrm>
            <a:off x="498348" y="1325880"/>
            <a:ext cx="1947672" cy="73152"/>
          </a:xfrm>
          <a:prstGeom prst="rect">
            <a:avLst/>
          </a:prstGeom>
          <a:solidFill>
            <a:srgbClr val="0F4C5C"/>
          </a:solidFill>
          <a:ln w="12700">
            <a:solidFill>
              <a:srgbClr val="0F4C5C"/>
            </a:solidFill>
            <a:prstDash val="solid"/>
          </a:ln>
        </p:spPr>
      </p:sp>
      <p:sp>
        <p:nvSpPr>
          <p:cNvPr id="6" name="Shape 4"/>
          <p:cNvSpPr/>
          <p:nvPr/>
        </p:nvSpPr>
        <p:spPr>
          <a:xfrm>
            <a:off x="662940" y="1527048"/>
            <a:ext cx="384048" cy="384048"/>
          </a:xfrm>
          <a:prstGeom prst="ellipse">
            <a:avLst/>
          </a:prstGeom>
          <a:solidFill>
            <a:srgbClr val="0F4C5C"/>
          </a:solidFill>
          <a:ln w="12700">
            <a:solidFill>
              <a:srgbClr val="0F4C5C"/>
            </a:solidFill>
            <a:prstDash val="solid"/>
          </a:ln>
        </p:spPr>
      </p:sp>
      <p:sp>
        <p:nvSpPr>
          <p:cNvPr id="7" name="Text 5"/>
          <p:cNvSpPr/>
          <p:nvPr/>
        </p:nvSpPr>
        <p:spPr>
          <a:xfrm>
            <a:off x="66294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1879092" y="1545336"/>
            <a:ext cx="329184" cy="329184"/>
          </a:xfrm>
          <a:prstGeom prst="rect">
            <a:avLst/>
          </a:prstGeom>
        </p:spPr>
      </p:pic>
      <p:sp>
        <p:nvSpPr>
          <p:cNvPr id="9" name="Text 6"/>
          <p:cNvSpPr/>
          <p:nvPr/>
        </p:nvSpPr>
        <p:spPr>
          <a:xfrm>
            <a:off x="662940" y="2057400"/>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Party</a:t>
            </a:r>
            <a:endParaRPr lang="en-US" sz="1400" dirty="0"/>
          </a:p>
        </p:txBody>
      </p:sp>
      <p:sp>
        <p:nvSpPr>
          <p:cNvPr id="10" name="Text 7"/>
          <p:cNvSpPr/>
          <p:nvPr/>
        </p:nvSpPr>
        <p:spPr>
          <a:xfrm>
            <a:off x="662940" y="2386584"/>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Identity for people &amp; organisations</a:t>
            </a:r>
            <a:endParaRPr lang="en-US" sz="900" dirty="0"/>
          </a:p>
        </p:txBody>
      </p:sp>
      <p:sp>
        <p:nvSpPr>
          <p:cNvPr id="11" name="Shape 8"/>
          <p:cNvSpPr/>
          <p:nvPr/>
        </p:nvSpPr>
        <p:spPr>
          <a:xfrm>
            <a:off x="2564892" y="1325880"/>
            <a:ext cx="1947672" cy="1554480"/>
          </a:xfrm>
          <a:prstGeom prst="rect">
            <a:avLst/>
          </a:prstGeom>
          <a:solidFill>
            <a:srgbClr val="F1F5F4"/>
          </a:solidFill>
          <a:ln w="9525">
            <a:solidFill>
              <a:srgbClr val="D8E2DD"/>
            </a:solidFill>
            <a:prstDash val="solid"/>
          </a:ln>
        </p:spPr>
      </p:sp>
      <p:sp>
        <p:nvSpPr>
          <p:cNvPr id="12" name="Shape 9"/>
          <p:cNvSpPr/>
          <p:nvPr/>
        </p:nvSpPr>
        <p:spPr>
          <a:xfrm>
            <a:off x="2564892" y="1325880"/>
            <a:ext cx="1947672" cy="73152"/>
          </a:xfrm>
          <a:prstGeom prst="rect">
            <a:avLst/>
          </a:prstGeom>
          <a:solidFill>
            <a:srgbClr val="0F4C5C"/>
          </a:solidFill>
          <a:ln w="12700">
            <a:solidFill>
              <a:srgbClr val="0F4C5C"/>
            </a:solidFill>
            <a:prstDash val="solid"/>
          </a:ln>
        </p:spPr>
      </p:sp>
      <p:sp>
        <p:nvSpPr>
          <p:cNvPr id="13" name="Shape 10"/>
          <p:cNvSpPr/>
          <p:nvPr/>
        </p:nvSpPr>
        <p:spPr>
          <a:xfrm>
            <a:off x="2729484" y="1527048"/>
            <a:ext cx="384048" cy="384048"/>
          </a:xfrm>
          <a:prstGeom prst="ellipse">
            <a:avLst/>
          </a:prstGeom>
          <a:solidFill>
            <a:srgbClr val="0F4C5C"/>
          </a:solidFill>
          <a:ln w="12700">
            <a:solidFill>
              <a:srgbClr val="0F4C5C"/>
            </a:solidFill>
            <a:prstDash val="solid"/>
          </a:ln>
        </p:spPr>
      </p:sp>
      <p:sp>
        <p:nvSpPr>
          <p:cNvPr id="14" name="Text 11"/>
          <p:cNvSpPr/>
          <p:nvPr/>
        </p:nvSpPr>
        <p:spPr>
          <a:xfrm>
            <a:off x="2729484"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pic>
        <p:nvPicPr>
          <p:cNvPr id="15" name="Image 1" descr="preencoded.png">    </p:cNvPr>
          <p:cNvPicPr>
            <a:picLocks noChangeAspect="1"/>
          </p:cNvPicPr>
          <p:nvPr/>
        </p:nvPicPr>
        <p:blipFill>
          <a:blip r:embed="rId2"/>
          <a:stretch>
            <a:fillRect/>
          </a:stretch>
        </p:blipFill>
        <p:spPr>
          <a:xfrm>
            <a:off x="3945636" y="1545336"/>
            <a:ext cx="329184" cy="329184"/>
          </a:xfrm>
          <a:prstGeom prst="rect">
            <a:avLst/>
          </a:prstGeom>
        </p:spPr>
      </p:pic>
      <p:sp>
        <p:nvSpPr>
          <p:cNvPr id="16" name="Text 12"/>
          <p:cNvSpPr/>
          <p:nvPr/>
        </p:nvSpPr>
        <p:spPr>
          <a:xfrm>
            <a:off x="2729484" y="2057400"/>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Study</a:t>
            </a:r>
            <a:endParaRPr lang="en-US" sz="1400" dirty="0"/>
          </a:p>
        </p:txBody>
      </p:sp>
      <p:sp>
        <p:nvSpPr>
          <p:cNvPr id="17" name="Text 13"/>
          <p:cNvSpPr/>
          <p:nvPr/>
        </p:nvSpPr>
        <p:spPr>
          <a:xfrm>
            <a:off x="2729484" y="2386584"/>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Scientific protocol &amp; design</a:t>
            </a:r>
            <a:endParaRPr lang="en-US" sz="900" dirty="0"/>
          </a:p>
        </p:txBody>
      </p:sp>
      <p:sp>
        <p:nvSpPr>
          <p:cNvPr id="18" name="Shape 14"/>
          <p:cNvSpPr/>
          <p:nvPr/>
        </p:nvSpPr>
        <p:spPr>
          <a:xfrm>
            <a:off x="4631436" y="1325880"/>
            <a:ext cx="1947672" cy="1554480"/>
          </a:xfrm>
          <a:prstGeom prst="rect">
            <a:avLst/>
          </a:prstGeom>
          <a:solidFill>
            <a:srgbClr val="F1F5F4"/>
          </a:solidFill>
          <a:ln w="9525">
            <a:solidFill>
              <a:srgbClr val="D8E2DD"/>
            </a:solidFill>
            <a:prstDash val="solid"/>
          </a:ln>
        </p:spPr>
      </p:sp>
      <p:sp>
        <p:nvSpPr>
          <p:cNvPr id="19" name="Shape 15"/>
          <p:cNvSpPr/>
          <p:nvPr/>
        </p:nvSpPr>
        <p:spPr>
          <a:xfrm>
            <a:off x="4631436" y="1325880"/>
            <a:ext cx="1947672" cy="73152"/>
          </a:xfrm>
          <a:prstGeom prst="rect">
            <a:avLst/>
          </a:prstGeom>
          <a:solidFill>
            <a:srgbClr val="0F4C5C"/>
          </a:solidFill>
          <a:ln w="12700">
            <a:solidFill>
              <a:srgbClr val="0F4C5C"/>
            </a:solidFill>
            <a:prstDash val="solid"/>
          </a:ln>
        </p:spPr>
      </p:sp>
      <p:sp>
        <p:nvSpPr>
          <p:cNvPr id="20" name="Shape 16"/>
          <p:cNvSpPr/>
          <p:nvPr/>
        </p:nvSpPr>
        <p:spPr>
          <a:xfrm>
            <a:off x="4796028" y="1527048"/>
            <a:ext cx="384048" cy="384048"/>
          </a:xfrm>
          <a:prstGeom prst="ellipse">
            <a:avLst/>
          </a:prstGeom>
          <a:solidFill>
            <a:srgbClr val="0F4C5C"/>
          </a:solidFill>
          <a:ln w="12700">
            <a:solidFill>
              <a:srgbClr val="0F4C5C"/>
            </a:solidFill>
            <a:prstDash val="solid"/>
          </a:ln>
        </p:spPr>
      </p:sp>
      <p:sp>
        <p:nvSpPr>
          <p:cNvPr id="21" name="Text 17"/>
          <p:cNvSpPr/>
          <p:nvPr/>
        </p:nvSpPr>
        <p:spPr>
          <a:xfrm>
            <a:off x="4796028"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pic>
        <p:nvPicPr>
          <p:cNvPr id="22" name="Image 2" descr="preencoded.png">    </p:cNvPr>
          <p:cNvPicPr>
            <a:picLocks noChangeAspect="1"/>
          </p:cNvPicPr>
          <p:nvPr/>
        </p:nvPicPr>
        <p:blipFill>
          <a:blip r:embed="rId3"/>
          <a:stretch>
            <a:fillRect/>
          </a:stretch>
        </p:blipFill>
        <p:spPr>
          <a:xfrm>
            <a:off x="6012180" y="1545336"/>
            <a:ext cx="329184" cy="329184"/>
          </a:xfrm>
          <a:prstGeom prst="rect">
            <a:avLst/>
          </a:prstGeom>
        </p:spPr>
      </p:pic>
      <p:sp>
        <p:nvSpPr>
          <p:cNvPr id="23" name="Text 18"/>
          <p:cNvSpPr/>
          <p:nvPr/>
        </p:nvSpPr>
        <p:spPr>
          <a:xfrm>
            <a:off x="4796028" y="2057400"/>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Application</a:t>
            </a:r>
            <a:endParaRPr lang="en-US" sz="1400" dirty="0"/>
          </a:p>
        </p:txBody>
      </p:sp>
      <p:sp>
        <p:nvSpPr>
          <p:cNvPr id="24" name="Text 19"/>
          <p:cNvSpPr/>
          <p:nvPr/>
        </p:nvSpPr>
        <p:spPr>
          <a:xfrm>
            <a:off x="4796028" y="2386584"/>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Submission lifecycle for approvals</a:t>
            </a:r>
            <a:endParaRPr lang="en-US" sz="900" dirty="0"/>
          </a:p>
        </p:txBody>
      </p:sp>
      <p:sp>
        <p:nvSpPr>
          <p:cNvPr id="25" name="Shape 20"/>
          <p:cNvSpPr/>
          <p:nvPr/>
        </p:nvSpPr>
        <p:spPr>
          <a:xfrm>
            <a:off x="6697980" y="1325880"/>
            <a:ext cx="1947672" cy="1554480"/>
          </a:xfrm>
          <a:prstGeom prst="rect">
            <a:avLst/>
          </a:prstGeom>
          <a:solidFill>
            <a:srgbClr val="F1F5F4"/>
          </a:solidFill>
          <a:ln w="9525">
            <a:solidFill>
              <a:srgbClr val="D8E2DD"/>
            </a:solidFill>
            <a:prstDash val="solid"/>
          </a:ln>
        </p:spPr>
      </p:sp>
      <p:sp>
        <p:nvSpPr>
          <p:cNvPr id="26" name="Shape 21"/>
          <p:cNvSpPr/>
          <p:nvPr/>
        </p:nvSpPr>
        <p:spPr>
          <a:xfrm>
            <a:off x="6697980" y="1325880"/>
            <a:ext cx="1947672" cy="73152"/>
          </a:xfrm>
          <a:prstGeom prst="rect">
            <a:avLst/>
          </a:prstGeom>
          <a:solidFill>
            <a:srgbClr val="0F4C5C"/>
          </a:solidFill>
          <a:ln w="12700">
            <a:solidFill>
              <a:srgbClr val="0F4C5C"/>
            </a:solidFill>
            <a:prstDash val="solid"/>
          </a:ln>
        </p:spPr>
      </p:sp>
      <p:sp>
        <p:nvSpPr>
          <p:cNvPr id="27" name="Shape 22"/>
          <p:cNvSpPr/>
          <p:nvPr/>
        </p:nvSpPr>
        <p:spPr>
          <a:xfrm>
            <a:off x="6862572" y="1527048"/>
            <a:ext cx="384048" cy="384048"/>
          </a:xfrm>
          <a:prstGeom prst="ellipse">
            <a:avLst/>
          </a:prstGeom>
          <a:solidFill>
            <a:srgbClr val="0F4C5C"/>
          </a:solidFill>
          <a:ln w="12700">
            <a:solidFill>
              <a:srgbClr val="0F4C5C"/>
            </a:solidFill>
            <a:prstDash val="solid"/>
          </a:ln>
        </p:spPr>
      </p:sp>
      <p:sp>
        <p:nvSpPr>
          <p:cNvPr id="28" name="Text 23"/>
          <p:cNvSpPr/>
          <p:nvPr/>
        </p:nvSpPr>
        <p:spPr>
          <a:xfrm>
            <a:off x="6862572"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pic>
        <p:nvPicPr>
          <p:cNvPr id="29" name="Image 3" descr="preencoded.png">    </p:cNvPr>
          <p:cNvPicPr>
            <a:picLocks noChangeAspect="1"/>
          </p:cNvPicPr>
          <p:nvPr/>
        </p:nvPicPr>
        <p:blipFill>
          <a:blip r:embed="rId4"/>
          <a:stretch>
            <a:fillRect/>
          </a:stretch>
        </p:blipFill>
        <p:spPr>
          <a:xfrm>
            <a:off x="8078724" y="1545336"/>
            <a:ext cx="329184" cy="329184"/>
          </a:xfrm>
          <a:prstGeom prst="rect">
            <a:avLst/>
          </a:prstGeom>
        </p:spPr>
      </p:pic>
      <p:sp>
        <p:nvSpPr>
          <p:cNvPr id="30" name="Text 24"/>
          <p:cNvSpPr/>
          <p:nvPr/>
        </p:nvSpPr>
        <p:spPr>
          <a:xfrm>
            <a:off x="6862572" y="2057400"/>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Evaluation</a:t>
            </a:r>
            <a:endParaRPr lang="en-US" sz="1400" dirty="0"/>
          </a:p>
        </p:txBody>
      </p:sp>
      <p:sp>
        <p:nvSpPr>
          <p:cNvPr id="31" name="Text 25"/>
          <p:cNvSpPr/>
          <p:nvPr/>
        </p:nvSpPr>
        <p:spPr>
          <a:xfrm>
            <a:off x="6862572" y="2386584"/>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Ethics, scientific &amp; governance review</a:t>
            </a:r>
            <a:endParaRPr lang="en-US" sz="900" dirty="0"/>
          </a:p>
        </p:txBody>
      </p:sp>
      <p:sp>
        <p:nvSpPr>
          <p:cNvPr id="32" name="Shape 26"/>
          <p:cNvSpPr/>
          <p:nvPr/>
        </p:nvSpPr>
        <p:spPr>
          <a:xfrm>
            <a:off x="1531620" y="3044952"/>
            <a:ext cx="1947672" cy="1554480"/>
          </a:xfrm>
          <a:prstGeom prst="rect">
            <a:avLst/>
          </a:prstGeom>
          <a:solidFill>
            <a:srgbClr val="F1F5F4"/>
          </a:solidFill>
          <a:ln w="9525">
            <a:solidFill>
              <a:srgbClr val="D8E2DD"/>
            </a:solidFill>
            <a:prstDash val="solid"/>
          </a:ln>
        </p:spPr>
      </p:sp>
      <p:sp>
        <p:nvSpPr>
          <p:cNvPr id="33" name="Shape 27"/>
          <p:cNvSpPr/>
          <p:nvPr/>
        </p:nvSpPr>
        <p:spPr>
          <a:xfrm>
            <a:off x="1531620" y="3044952"/>
            <a:ext cx="1947672" cy="73152"/>
          </a:xfrm>
          <a:prstGeom prst="rect">
            <a:avLst/>
          </a:prstGeom>
          <a:solidFill>
            <a:srgbClr val="0F4C5C"/>
          </a:solidFill>
          <a:ln w="12700">
            <a:solidFill>
              <a:srgbClr val="0F4C5C"/>
            </a:solidFill>
            <a:prstDash val="solid"/>
          </a:ln>
        </p:spPr>
      </p:sp>
      <p:sp>
        <p:nvSpPr>
          <p:cNvPr id="34" name="Shape 28"/>
          <p:cNvSpPr/>
          <p:nvPr/>
        </p:nvSpPr>
        <p:spPr>
          <a:xfrm>
            <a:off x="1696212" y="3246120"/>
            <a:ext cx="384048" cy="384048"/>
          </a:xfrm>
          <a:prstGeom prst="ellipse">
            <a:avLst/>
          </a:prstGeom>
          <a:solidFill>
            <a:srgbClr val="0F4C5C"/>
          </a:solidFill>
          <a:ln w="12700">
            <a:solidFill>
              <a:srgbClr val="0F4C5C"/>
            </a:solidFill>
            <a:prstDash val="solid"/>
          </a:ln>
        </p:spPr>
      </p:sp>
      <p:sp>
        <p:nvSpPr>
          <p:cNvPr id="35" name="Text 29"/>
          <p:cNvSpPr/>
          <p:nvPr/>
        </p:nvSpPr>
        <p:spPr>
          <a:xfrm>
            <a:off x="1696212"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pic>
        <p:nvPicPr>
          <p:cNvPr id="36" name="Image 4" descr="preencoded.png">    </p:cNvPr>
          <p:cNvPicPr>
            <a:picLocks noChangeAspect="1"/>
          </p:cNvPicPr>
          <p:nvPr/>
        </p:nvPicPr>
        <p:blipFill>
          <a:blip r:embed="rId5"/>
          <a:stretch>
            <a:fillRect/>
          </a:stretch>
        </p:blipFill>
        <p:spPr>
          <a:xfrm>
            <a:off x="2912364" y="3264408"/>
            <a:ext cx="329184" cy="329184"/>
          </a:xfrm>
          <a:prstGeom prst="rect">
            <a:avLst/>
          </a:prstGeom>
        </p:spPr>
      </p:pic>
      <p:sp>
        <p:nvSpPr>
          <p:cNvPr id="37" name="Text 30"/>
          <p:cNvSpPr/>
          <p:nvPr/>
        </p:nvSpPr>
        <p:spPr>
          <a:xfrm>
            <a:off x="1696212" y="3776472"/>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Project Management</a:t>
            </a:r>
            <a:endParaRPr lang="en-US" sz="1400" dirty="0"/>
          </a:p>
        </p:txBody>
      </p:sp>
      <p:sp>
        <p:nvSpPr>
          <p:cNvPr id="38" name="Text 31"/>
          <p:cNvSpPr/>
          <p:nvPr/>
        </p:nvSpPr>
        <p:spPr>
          <a:xfrm>
            <a:off x="1696212" y="4105656"/>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Operational delivery &amp; safety</a:t>
            </a:r>
            <a:endParaRPr lang="en-US" sz="900" dirty="0"/>
          </a:p>
        </p:txBody>
      </p:sp>
      <p:sp>
        <p:nvSpPr>
          <p:cNvPr id="39" name="Shape 32"/>
          <p:cNvSpPr/>
          <p:nvPr/>
        </p:nvSpPr>
        <p:spPr>
          <a:xfrm>
            <a:off x="3598164" y="3044952"/>
            <a:ext cx="1947672" cy="1554480"/>
          </a:xfrm>
          <a:prstGeom prst="rect">
            <a:avLst/>
          </a:prstGeom>
          <a:solidFill>
            <a:srgbClr val="F1F5F4"/>
          </a:solidFill>
          <a:ln w="9525">
            <a:solidFill>
              <a:srgbClr val="D8E2DD"/>
            </a:solidFill>
            <a:prstDash val="solid"/>
          </a:ln>
        </p:spPr>
      </p:sp>
      <p:sp>
        <p:nvSpPr>
          <p:cNvPr id="40" name="Shape 33"/>
          <p:cNvSpPr/>
          <p:nvPr/>
        </p:nvSpPr>
        <p:spPr>
          <a:xfrm>
            <a:off x="3598164" y="3044952"/>
            <a:ext cx="1947672" cy="73152"/>
          </a:xfrm>
          <a:prstGeom prst="rect">
            <a:avLst/>
          </a:prstGeom>
          <a:solidFill>
            <a:srgbClr val="0F4C5C"/>
          </a:solidFill>
          <a:ln w="12700">
            <a:solidFill>
              <a:srgbClr val="0F4C5C"/>
            </a:solidFill>
            <a:prstDash val="solid"/>
          </a:ln>
        </p:spPr>
      </p:sp>
      <p:sp>
        <p:nvSpPr>
          <p:cNvPr id="41" name="Shape 34"/>
          <p:cNvSpPr/>
          <p:nvPr/>
        </p:nvSpPr>
        <p:spPr>
          <a:xfrm>
            <a:off x="3762756" y="3246120"/>
            <a:ext cx="384048" cy="384048"/>
          </a:xfrm>
          <a:prstGeom prst="ellipse">
            <a:avLst/>
          </a:prstGeom>
          <a:solidFill>
            <a:srgbClr val="0F4C5C"/>
          </a:solidFill>
          <a:ln w="12700">
            <a:solidFill>
              <a:srgbClr val="0F4C5C"/>
            </a:solidFill>
            <a:prstDash val="solid"/>
          </a:ln>
        </p:spPr>
      </p:sp>
      <p:sp>
        <p:nvSpPr>
          <p:cNvPr id="42" name="Text 35"/>
          <p:cNvSpPr/>
          <p:nvPr/>
        </p:nvSpPr>
        <p:spPr>
          <a:xfrm>
            <a:off x="3762756"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pic>
        <p:nvPicPr>
          <p:cNvPr id="43" name="Image 5" descr="preencoded.png">    </p:cNvPr>
          <p:cNvPicPr>
            <a:picLocks noChangeAspect="1"/>
          </p:cNvPicPr>
          <p:nvPr/>
        </p:nvPicPr>
        <p:blipFill>
          <a:blip r:embed="rId6"/>
          <a:stretch>
            <a:fillRect/>
          </a:stretch>
        </p:blipFill>
        <p:spPr>
          <a:xfrm>
            <a:off x="4978908" y="3264408"/>
            <a:ext cx="329184" cy="329184"/>
          </a:xfrm>
          <a:prstGeom prst="rect">
            <a:avLst/>
          </a:prstGeom>
        </p:spPr>
      </p:pic>
      <p:sp>
        <p:nvSpPr>
          <p:cNvPr id="44" name="Text 36"/>
          <p:cNvSpPr/>
          <p:nvPr/>
        </p:nvSpPr>
        <p:spPr>
          <a:xfrm>
            <a:off x="3762756" y="3776472"/>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Recruitment</a:t>
            </a:r>
            <a:endParaRPr lang="en-US" sz="1400" dirty="0"/>
          </a:p>
        </p:txBody>
      </p:sp>
      <p:sp>
        <p:nvSpPr>
          <p:cNvPr id="45" name="Text 37"/>
          <p:cNvSpPr/>
          <p:nvPr/>
        </p:nvSpPr>
        <p:spPr>
          <a:xfrm>
            <a:off x="3762756" y="4105656"/>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Participant journey &amp; consent</a:t>
            </a:r>
            <a:endParaRPr lang="en-US" sz="900" dirty="0"/>
          </a:p>
        </p:txBody>
      </p:sp>
      <p:sp>
        <p:nvSpPr>
          <p:cNvPr id="46" name="Shape 38"/>
          <p:cNvSpPr/>
          <p:nvPr/>
        </p:nvSpPr>
        <p:spPr>
          <a:xfrm>
            <a:off x="5664708" y="3044952"/>
            <a:ext cx="1947672" cy="1554480"/>
          </a:xfrm>
          <a:prstGeom prst="rect">
            <a:avLst/>
          </a:prstGeom>
          <a:solidFill>
            <a:srgbClr val="F1F5F4"/>
          </a:solidFill>
          <a:ln w="9525">
            <a:solidFill>
              <a:srgbClr val="D8E2DD"/>
            </a:solidFill>
            <a:prstDash val="solid"/>
          </a:ln>
        </p:spPr>
      </p:sp>
      <p:sp>
        <p:nvSpPr>
          <p:cNvPr id="47" name="Shape 39"/>
          <p:cNvSpPr/>
          <p:nvPr/>
        </p:nvSpPr>
        <p:spPr>
          <a:xfrm>
            <a:off x="5664708" y="3044952"/>
            <a:ext cx="1947672" cy="73152"/>
          </a:xfrm>
          <a:prstGeom prst="rect">
            <a:avLst/>
          </a:prstGeom>
          <a:solidFill>
            <a:srgbClr val="0F4C5C"/>
          </a:solidFill>
          <a:ln w="12700">
            <a:solidFill>
              <a:srgbClr val="0F4C5C"/>
            </a:solidFill>
            <a:prstDash val="solid"/>
          </a:ln>
        </p:spPr>
      </p:sp>
      <p:sp>
        <p:nvSpPr>
          <p:cNvPr id="48" name="Shape 40"/>
          <p:cNvSpPr/>
          <p:nvPr/>
        </p:nvSpPr>
        <p:spPr>
          <a:xfrm>
            <a:off x="5829300" y="3246120"/>
            <a:ext cx="384048" cy="384048"/>
          </a:xfrm>
          <a:prstGeom prst="ellipse">
            <a:avLst/>
          </a:prstGeom>
          <a:solidFill>
            <a:srgbClr val="0F4C5C"/>
          </a:solidFill>
          <a:ln w="12700">
            <a:solidFill>
              <a:srgbClr val="0F4C5C"/>
            </a:solidFill>
            <a:prstDash val="solid"/>
          </a:ln>
        </p:spPr>
      </p:sp>
      <p:sp>
        <p:nvSpPr>
          <p:cNvPr id="49" name="Text 41"/>
          <p:cNvSpPr/>
          <p:nvPr/>
        </p:nvSpPr>
        <p:spPr>
          <a:xfrm>
            <a:off x="5829300"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pic>
        <p:nvPicPr>
          <p:cNvPr id="50" name="Image 6" descr="preencoded.png">    </p:cNvPr>
          <p:cNvPicPr>
            <a:picLocks noChangeAspect="1"/>
          </p:cNvPicPr>
          <p:nvPr/>
        </p:nvPicPr>
        <p:blipFill>
          <a:blip r:embed="rId7"/>
          <a:stretch>
            <a:fillRect/>
          </a:stretch>
        </p:blipFill>
        <p:spPr>
          <a:xfrm>
            <a:off x="7045452" y="3264408"/>
            <a:ext cx="329184" cy="329184"/>
          </a:xfrm>
          <a:prstGeom prst="rect">
            <a:avLst/>
          </a:prstGeom>
        </p:spPr>
      </p:pic>
      <p:sp>
        <p:nvSpPr>
          <p:cNvPr id="51" name="Text 42"/>
          <p:cNvSpPr/>
          <p:nvPr/>
        </p:nvSpPr>
        <p:spPr>
          <a:xfrm>
            <a:off x="5829300" y="3776472"/>
            <a:ext cx="1673352" cy="329184"/>
          </a:xfrm>
          <a:prstGeom prst="rect">
            <a:avLst/>
          </a:prstGeom>
          <a:noFill/>
          <a:ln/>
        </p:spPr>
        <p:txBody>
          <a:bodyPr wrap="square" lIns="0" tIns="0" rIns="0" bIns="0" rtlCol="0" anchor="ctr"/>
          <a:lstStyle/>
          <a:p>
            <a:pPr indent="0" marL="0">
              <a:buNone/>
            </a:pPr>
            <a:r>
              <a:rPr lang="en-US" sz="1400" b="1" dirty="0">
                <a:solidFill>
                  <a:srgbClr val="0F4C5C"/>
                </a:solidFill>
                <a:latin typeface="Cambria" pitchFamily="34" charset="0"/>
                <a:ea typeface="Cambria" pitchFamily="34" charset="-122"/>
                <a:cs typeface="Cambria" pitchFamily="34" charset="-120"/>
              </a:rPr>
              <a:t>Registry</a:t>
            </a:r>
            <a:endParaRPr lang="en-US" sz="1400" dirty="0"/>
          </a:p>
        </p:txBody>
      </p:sp>
      <p:sp>
        <p:nvSpPr>
          <p:cNvPr id="52" name="Text 43"/>
          <p:cNvSpPr/>
          <p:nvPr/>
        </p:nvSpPr>
        <p:spPr>
          <a:xfrm>
            <a:off x="5829300" y="4105656"/>
            <a:ext cx="1673352" cy="4114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Public transparency &amp; results</a:t>
            </a:r>
            <a:endParaRPr lang="en-US" sz="900" dirty="0"/>
          </a:p>
        </p:txBody>
      </p:sp>
      <p:sp>
        <p:nvSpPr>
          <p:cNvPr id="53" name="Text 44"/>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54" name="Text 45"/>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6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06  /  CONTEXT MAP</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Relationships, dependencies and translation patterns</a:t>
            </a:r>
            <a:endParaRPr lang="en-US" sz="2600" dirty="0"/>
          </a:p>
        </p:txBody>
      </p:sp>
      <p:sp>
        <p:nvSpPr>
          <p:cNvPr id="4" name="Text 2"/>
          <p:cNvSpPr/>
          <p:nvPr/>
        </p:nvSpPr>
        <p:spPr>
          <a:xfrm>
            <a:off x="457200" y="1207008"/>
            <a:ext cx="8229600"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U = Upstream  ·  D = Downstream  ·  C/S = Customer/Supplier  ·  ACL = Anti-Corruption Layer  ·  OHS = Open Host Service  ·  SK = Shared Kernel</a:t>
            </a:r>
            <a:endParaRPr lang="en-US" sz="850" dirty="0"/>
          </a:p>
        </p:txBody>
      </p:sp>
      <p:sp>
        <p:nvSpPr>
          <p:cNvPr id="5" name="Shape 3"/>
          <p:cNvSpPr/>
          <p:nvPr/>
        </p:nvSpPr>
        <p:spPr>
          <a:xfrm>
            <a:off x="3383280" y="1554480"/>
            <a:ext cx="2377440" cy="594360"/>
          </a:xfrm>
          <a:prstGeom prst="rect">
            <a:avLst/>
          </a:prstGeom>
          <a:solidFill>
            <a:srgbClr val="0F4C5C"/>
          </a:solidFill>
          <a:ln w="9525">
            <a:solidFill>
              <a:srgbClr val="D8E2DD"/>
            </a:solidFill>
            <a:prstDash val="solid"/>
          </a:ln>
        </p:spPr>
      </p:sp>
      <p:sp>
        <p:nvSpPr>
          <p:cNvPr id="6" name="Text 4"/>
          <p:cNvSpPr/>
          <p:nvPr/>
        </p:nvSpPr>
        <p:spPr>
          <a:xfrm>
            <a:off x="3383280" y="1609344"/>
            <a:ext cx="2377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Party (Shared Kernel)</a:t>
            </a:r>
            <a:endParaRPr lang="en-US" sz="1200" dirty="0"/>
          </a:p>
        </p:txBody>
      </p:sp>
      <p:sp>
        <p:nvSpPr>
          <p:cNvPr id="7" name="Text 5"/>
          <p:cNvSpPr/>
          <p:nvPr/>
        </p:nvSpPr>
        <p:spPr>
          <a:xfrm>
            <a:off x="3383280" y="1901952"/>
            <a:ext cx="2377440" cy="201168"/>
          </a:xfrm>
          <a:prstGeom prst="rect">
            <a:avLst/>
          </a:prstGeom>
          <a:noFill/>
          <a:ln/>
        </p:spPr>
        <p:txBody>
          <a:bodyPr wrap="square" lIns="0" tIns="0" rIns="0" bIns="0" rtlCol="0" anchor="ctr"/>
          <a:lstStyle/>
          <a:p>
            <a:pPr algn="ctr" indent="0" marL="0">
              <a:buNone/>
            </a:pPr>
            <a:r>
              <a:rPr lang="en-US" sz="800" i="1" dirty="0">
                <a:solidFill>
                  <a:srgbClr val="BFD4D9"/>
                </a:solidFill>
                <a:latin typeface="Calibri" pitchFamily="34" charset="0"/>
                <a:ea typeface="Calibri" pitchFamily="34" charset="-122"/>
                <a:cs typeface="Calibri" pitchFamily="34" charset="-120"/>
              </a:rPr>
              <a:t>Identity used by all contexts</a:t>
            </a:r>
            <a:endParaRPr lang="en-US" sz="800" dirty="0"/>
          </a:p>
        </p:txBody>
      </p:sp>
      <p:sp>
        <p:nvSpPr>
          <p:cNvPr id="8" name="Shape 6"/>
          <p:cNvSpPr/>
          <p:nvPr/>
        </p:nvSpPr>
        <p:spPr>
          <a:xfrm>
            <a:off x="457200" y="2423160"/>
            <a:ext cx="1783080" cy="594360"/>
          </a:xfrm>
          <a:prstGeom prst="rect">
            <a:avLst/>
          </a:prstGeom>
          <a:solidFill>
            <a:srgbClr val="F1F5F4"/>
          </a:solidFill>
          <a:ln w="9525">
            <a:solidFill>
              <a:srgbClr val="D8E2DD"/>
            </a:solidFill>
            <a:prstDash val="solid"/>
          </a:ln>
        </p:spPr>
      </p:sp>
      <p:sp>
        <p:nvSpPr>
          <p:cNvPr id="9" name="Text 7"/>
          <p:cNvSpPr/>
          <p:nvPr/>
        </p:nvSpPr>
        <p:spPr>
          <a:xfrm>
            <a:off x="457200" y="2478024"/>
            <a:ext cx="178308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Study</a:t>
            </a:r>
            <a:endParaRPr lang="en-US" sz="1200" dirty="0"/>
          </a:p>
        </p:txBody>
      </p:sp>
      <p:sp>
        <p:nvSpPr>
          <p:cNvPr id="10" name="Text 8"/>
          <p:cNvSpPr/>
          <p:nvPr/>
        </p:nvSpPr>
        <p:spPr>
          <a:xfrm>
            <a:off x="457200" y="2770632"/>
            <a:ext cx="178308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Upstream · OHS</a:t>
            </a:r>
            <a:endParaRPr lang="en-US" sz="800" dirty="0"/>
          </a:p>
        </p:txBody>
      </p:sp>
      <p:sp>
        <p:nvSpPr>
          <p:cNvPr id="11" name="Shape 9"/>
          <p:cNvSpPr/>
          <p:nvPr/>
        </p:nvSpPr>
        <p:spPr>
          <a:xfrm>
            <a:off x="2514600" y="2423160"/>
            <a:ext cx="1783080" cy="594360"/>
          </a:xfrm>
          <a:prstGeom prst="rect">
            <a:avLst/>
          </a:prstGeom>
          <a:solidFill>
            <a:srgbClr val="F1F5F4"/>
          </a:solidFill>
          <a:ln w="9525">
            <a:solidFill>
              <a:srgbClr val="D8E2DD"/>
            </a:solidFill>
            <a:prstDash val="solid"/>
          </a:ln>
        </p:spPr>
      </p:sp>
      <p:sp>
        <p:nvSpPr>
          <p:cNvPr id="12" name="Text 10"/>
          <p:cNvSpPr/>
          <p:nvPr/>
        </p:nvSpPr>
        <p:spPr>
          <a:xfrm>
            <a:off x="2514600" y="2478024"/>
            <a:ext cx="178308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Application</a:t>
            </a:r>
            <a:endParaRPr lang="en-US" sz="1200" dirty="0"/>
          </a:p>
        </p:txBody>
      </p:sp>
      <p:sp>
        <p:nvSpPr>
          <p:cNvPr id="13" name="Text 11"/>
          <p:cNvSpPr/>
          <p:nvPr/>
        </p:nvSpPr>
        <p:spPr>
          <a:xfrm>
            <a:off x="2514600" y="2770632"/>
            <a:ext cx="178308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C/S · Downstream of Study</a:t>
            </a:r>
            <a:endParaRPr lang="en-US" sz="800" dirty="0"/>
          </a:p>
        </p:txBody>
      </p:sp>
      <p:sp>
        <p:nvSpPr>
          <p:cNvPr id="14" name="Shape 12"/>
          <p:cNvSpPr/>
          <p:nvPr/>
        </p:nvSpPr>
        <p:spPr>
          <a:xfrm>
            <a:off x="4572000" y="2423160"/>
            <a:ext cx="1783080" cy="594360"/>
          </a:xfrm>
          <a:prstGeom prst="rect">
            <a:avLst/>
          </a:prstGeom>
          <a:solidFill>
            <a:srgbClr val="F1F5F4"/>
          </a:solidFill>
          <a:ln w="9525">
            <a:solidFill>
              <a:srgbClr val="D8E2DD"/>
            </a:solidFill>
            <a:prstDash val="solid"/>
          </a:ln>
        </p:spPr>
      </p:sp>
      <p:sp>
        <p:nvSpPr>
          <p:cNvPr id="15" name="Text 13"/>
          <p:cNvSpPr/>
          <p:nvPr/>
        </p:nvSpPr>
        <p:spPr>
          <a:xfrm>
            <a:off x="4572000" y="2478024"/>
            <a:ext cx="178308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Evaluation</a:t>
            </a:r>
            <a:endParaRPr lang="en-US" sz="1200" dirty="0"/>
          </a:p>
        </p:txBody>
      </p:sp>
      <p:sp>
        <p:nvSpPr>
          <p:cNvPr id="16" name="Text 14"/>
          <p:cNvSpPr/>
          <p:nvPr/>
        </p:nvSpPr>
        <p:spPr>
          <a:xfrm>
            <a:off x="4572000" y="2770632"/>
            <a:ext cx="178308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C/S · Downstream of App</a:t>
            </a:r>
            <a:endParaRPr lang="en-US" sz="800" dirty="0"/>
          </a:p>
        </p:txBody>
      </p:sp>
      <p:sp>
        <p:nvSpPr>
          <p:cNvPr id="17" name="Shape 15"/>
          <p:cNvSpPr/>
          <p:nvPr/>
        </p:nvSpPr>
        <p:spPr>
          <a:xfrm>
            <a:off x="6629400" y="2423160"/>
            <a:ext cx="2057400" cy="594360"/>
          </a:xfrm>
          <a:prstGeom prst="rect">
            <a:avLst/>
          </a:prstGeom>
          <a:solidFill>
            <a:srgbClr val="F1F5F4"/>
          </a:solidFill>
          <a:ln w="9525">
            <a:solidFill>
              <a:srgbClr val="D8E2DD"/>
            </a:solidFill>
            <a:prstDash val="solid"/>
          </a:ln>
        </p:spPr>
      </p:sp>
      <p:sp>
        <p:nvSpPr>
          <p:cNvPr id="18" name="Text 16"/>
          <p:cNvSpPr/>
          <p:nvPr/>
        </p:nvSpPr>
        <p:spPr>
          <a:xfrm>
            <a:off x="6629400" y="2478024"/>
            <a:ext cx="205740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Recruitment</a:t>
            </a:r>
            <a:endParaRPr lang="en-US" sz="1200" dirty="0"/>
          </a:p>
        </p:txBody>
      </p:sp>
      <p:sp>
        <p:nvSpPr>
          <p:cNvPr id="19" name="Text 17"/>
          <p:cNvSpPr/>
          <p:nvPr/>
        </p:nvSpPr>
        <p:spPr>
          <a:xfrm>
            <a:off x="6629400" y="2770632"/>
            <a:ext cx="205740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Partnership w/ PM</a:t>
            </a:r>
            <a:endParaRPr lang="en-US" sz="800" dirty="0"/>
          </a:p>
        </p:txBody>
      </p:sp>
      <p:sp>
        <p:nvSpPr>
          <p:cNvPr id="20" name="Shape 18"/>
          <p:cNvSpPr/>
          <p:nvPr/>
        </p:nvSpPr>
        <p:spPr>
          <a:xfrm>
            <a:off x="3383280" y="3337560"/>
            <a:ext cx="2377440" cy="594360"/>
          </a:xfrm>
          <a:prstGeom prst="rect">
            <a:avLst/>
          </a:prstGeom>
          <a:solidFill>
            <a:srgbClr val="F1F5F4"/>
          </a:solidFill>
          <a:ln w="9525">
            <a:solidFill>
              <a:srgbClr val="D8E2DD"/>
            </a:solidFill>
            <a:prstDash val="solid"/>
          </a:ln>
        </p:spPr>
      </p:sp>
      <p:sp>
        <p:nvSpPr>
          <p:cNvPr id="21" name="Text 19"/>
          <p:cNvSpPr/>
          <p:nvPr/>
        </p:nvSpPr>
        <p:spPr>
          <a:xfrm>
            <a:off x="3383280" y="3392424"/>
            <a:ext cx="237744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Project Management</a:t>
            </a:r>
            <a:endParaRPr lang="en-US" sz="1200" dirty="0"/>
          </a:p>
        </p:txBody>
      </p:sp>
      <p:sp>
        <p:nvSpPr>
          <p:cNvPr id="22" name="Text 20"/>
          <p:cNvSpPr/>
          <p:nvPr/>
        </p:nvSpPr>
        <p:spPr>
          <a:xfrm>
            <a:off x="3383280" y="3685032"/>
            <a:ext cx="237744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C/S · Downstream of Evaluation</a:t>
            </a:r>
            <a:endParaRPr lang="en-US" sz="800" dirty="0"/>
          </a:p>
        </p:txBody>
      </p:sp>
      <p:sp>
        <p:nvSpPr>
          <p:cNvPr id="23" name="Shape 21"/>
          <p:cNvSpPr/>
          <p:nvPr/>
        </p:nvSpPr>
        <p:spPr>
          <a:xfrm>
            <a:off x="6629400" y="3337560"/>
            <a:ext cx="2057400" cy="594360"/>
          </a:xfrm>
          <a:prstGeom prst="rect">
            <a:avLst/>
          </a:prstGeom>
          <a:solidFill>
            <a:srgbClr val="F1F5F4"/>
          </a:solidFill>
          <a:ln w="9525">
            <a:solidFill>
              <a:srgbClr val="D8E2DD"/>
            </a:solidFill>
            <a:prstDash val="solid"/>
          </a:ln>
        </p:spPr>
      </p:sp>
      <p:sp>
        <p:nvSpPr>
          <p:cNvPr id="24" name="Text 22"/>
          <p:cNvSpPr/>
          <p:nvPr/>
        </p:nvSpPr>
        <p:spPr>
          <a:xfrm>
            <a:off x="6629400" y="3392424"/>
            <a:ext cx="2057400" cy="292608"/>
          </a:xfrm>
          <a:prstGeom prst="rect">
            <a:avLst/>
          </a:prstGeom>
          <a:noFill/>
          <a:ln/>
        </p:spPr>
        <p:txBody>
          <a:bodyPr wrap="square" lIns="0" tIns="0" rIns="0" bIns="0" rtlCol="0" anchor="ctr"/>
          <a:lstStyle/>
          <a:p>
            <a:pPr algn="ctr" indent="0" marL="0">
              <a:buNone/>
            </a:pPr>
            <a:r>
              <a:rPr lang="en-US" sz="1200" b="1" dirty="0">
                <a:solidFill>
                  <a:srgbClr val="1E293B"/>
                </a:solidFill>
                <a:latin typeface="Cambria" pitchFamily="34" charset="0"/>
                <a:ea typeface="Cambria" pitchFamily="34" charset="-122"/>
                <a:cs typeface="Cambria" pitchFamily="34" charset="-120"/>
              </a:rPr>
              <a:t>Registry</a:t>
            </a:r>
            <a:endParaRPr lang="en-US" sz="1200" dirty="0"/>
          </a:p>
        </p:txBody>
      </p:sp>
      <p:sp>
        <p:nvSpPr>
          <p:cNvPr id="25" name="Text 23"/>
          <p:cNvSpPr/>
          <p:nvPr/>
        </p:nvSpPr>
        <p:spPr>
          <a:xfrm>
            <a:off x="6629400" y="3685032"/>
            <a:ext cx="205740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Downstream · Conformist (WHO ICTRP)</a:t>
            </a:r>
            <a:endParaRPr lang="en-US" sz="800" dirty="0"/>
          </a:p>
        </p:txBody>
      </p:sp>
      <p:sp>
        <p:nvSpPr>
          <p:cNvPr id="26" name="Shape 24"/>
          <p:cNvSpPr/>
          <p:nvPr/>
        </p:nvSpPr>
        <p:spPr>
          <a:xfrm>
            <a:off x="457200" y="4160520"/>
            <a:ext cx="5120640" cy="502920"/>
          </a:xfrm>
          <a:prstGeom prst="rect">
            <a:avLst/>
          </a:prstGeom>
          <a:solidFill>
            <a:srgbClr val="F8F1EB"/>
          </a:solidFill>
          <a:ln w="9525">
            <a:solidFill>
              <a:srgbClr val="D8E2DD"/>
            </a:solidFill>
            <a:prstDash val="solid"/>
          </a:ln>
        </p:spPr>
      </p:sp>
      <p:sp>
        <p:nvSpPr>
          <p:cNvPr id="27" name="Text 25"/>
          <p:cNvSpPr/>
          <p:nvPr/>
        </p:nvSpPr>
        <p:spPr>
          <a:xfrm>
            <a:off x="457200" y="4215384"/>
            <a:ext cx="5120640" cy="292608"/>
          </a:xfrm>
          <a:prstGeom prst="rect">
            <a:avLst/>
          </a:prstGeom>
          <a:noFill/>
          <a:ln/>
        </p:spPr>
        <p:txBody>
          <a:bodyPr wrap="square" lIns="0" tIns="0" rIns="0" bIns="0" rtlCol="0" anchor="ctr"/>
          <a:lstStyle/>
          <a:p>
            <a:pPr algn="ctr" indent="0" marL="0">
              <a:buNone/>
            </a:pPr>
            <a:r>
              <a:rPr lang="en-US" sz="1200" b="1" dirty="0">
                <a:solidFill>
                  <a:srgbClr val="B07F39"/>
                </a:solidFill>
                <a:latin typeface="Cambria" pitchFamily="34" charset="0"/>
                <a:ea typeface="Cambria" pitchFamily="34" charset="-122"/>
                <a:cs typeface="Cambria" pitchFamily="34" charset="-120"/>
              </a:rPr>
              <a:t>TGA  ·  OGTR  ·  NHMRC  ·  AHPRA  ·  ANZCTR/WHO ICTRP</a:t>
            </a:r>
            <a:endParaRPr lang="en-US" sz="1200" dirty="0"/>
          </a:p>
        </p:txBody>
      </p:sp>
      <p:sp>
        <p:nvSpPr>
          <p:cNvPr id="28" name="Text 26"/>
          <p:cNvSpPr/>
          <p:nvPr/>
        </p:nvSpPr>
        <p:spPr>
          <a:xfrm>
            <a:off x="457200" y="4507992"/>
            <a:ext cx="512064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External systems · accessed via ACL</a:t>
            </a:r>
            <a:endParaRPr lang="en-US" sz="800" dirty="0"/>
          </a:p>
        </p:txBody>
      </p:sp>
      <p:sp>
        <p:nvSpPr>
          <p:cNvPr id="29" name="Shape 27"/>
          <p:cNvSpPr/>
          <p:nvPr/>
        </p:nvSpPr>
        <p:spPr>
          <a:xfrm>
            <a:off x="5760720" y="4160520"/>
            <a:ext cx="2926080" cy="502920"/>
          </a:xfrm>
          <a:prstGeom prst="rect">
            <a:avLst/>
          </a:prstGeom>
          <a:solidFill>
            <a:srgbClr val="EEF3EE"/>
          </a:solidFill>
          <a:ln w="9525">
            <a:solidFill>
              <a:srgbClr val="D8E2DD"/>
            </a:solidFill>
            <a:prstDash val="solid"/>
          </a:ln>
        </p:spPr>
      </p:sp>
      <p:sp>
        <p:nvSpPr>
          <p:cNvPr id="30" name="Text 28"/>
          <p:cNvSpPr/>
          <p:nvPr/>
        </p:nvSpPr>
        <p:spPr>
          <a:xfrm>
            <a:off x="5760720" y="4215384"/>
            <a:ext cx="2926080" cy="292608"/>
          </a:xfrm>
          <a:prstGeom prst="rect">
            <a:avLst/>
          </a:prstGeom>
          <a:noFill/>
          <a:ln/>
        </p:spPr>
        <p:txBody>
          <a:bodyPr wrap="square" lIns="0" tIns="0" rIns="0" bIns="0" rtlCol="0" anchor="ctr"/>
          <a:lstStyle/>
          <a:p>
            <a:pPr algn="ctr" indent="0" marL="0">
              <a:buNone/>
            </a:pPr>
            <a:r>
              <a:rPr lang="en-US" sz="1200" b="1" dirty="0">
                <a:solidFill>
                  <a:srgbClr val="5F7F65"/>
                </a:solidFill>
                <a:latin typeface="Cambria" pitchFamily="34" charset="0"/>
                <a:ea typeface="Cambria" pitchFamily="34" charset="-122"/>
                <a:cs typeface="Cambria" pitchFamily="34" charset="-120"/>
              </a:rPr>
              <a:t>Identity · Audit · Notify · Documents</a:t>
            </a:r>
            <a:endParaRPr lang="en-US" sz="1200" dirty="0"/>
          </a:p>
        </p:txBody>
      </p:sp>
      <p:sp>
        <p:nvSpPr>
          <p:cNvPr id="31" name="Text 29"/>
          <p:cNvSpPr/>
          <p:nvPr/>
        </p:nvSpPr>
        <p:spPr>
          <a:xfrm>
            <a:off x="5760720" y="4507992"/>
            <a:ext cx="2926080" cy="201168"/>
          </a:xfrm>
          <a:prstGeom prst="rect">
            <a:avLst/>
          </a:prstGeom>
          <a:noFill/>
          <a:ln/>
        </p:spPr>
        <p:txBody>
          <a:bodyPr wrap="square" lIns="0" tIns="0" rIns="0" bIns="0" rtlCol="0" anchor="ctr"/>
          <a:lstStyle/>
          <a:p>
            <a:pPr algn="ctr" indent="0" marL="0">
              <a:buNone/>
            </a:pPr>
            <a:r>
              <a:rPr lang="en-US" sz="800" i="1" dirty="0">
                <a:solidFill>
                  <a:srgbClr val="64748B"/>
                </a:solidFill>
                <a:latin typeface="Calibri" pitchFamily="34" charset="0"/>
                <a:ea typeface="Calibri" pitchFamily="34" charset="-122"/>
                <a:cs typeface="Calibri" pitchFamily="34" charset="-120"/>
              </a:rPr>
              <a:t>Cross-cutting supporting subdomains</a:t>
            </a:r>
            <a:endParaRPr lang="en-US" sz="800" dirty="0"/>
          </a:p>
        </p:txBody>
      </p:sp>
      <p:sp>
        <p:nvSpPr>
          <p:cNvPr id="32" name="Shape 30"/>
          <p:cNvSpPr/>
          <p:nvPr/>
        </p:nvSpPr>
        <p:spPr>
          <a:xfrm>
            <a:off x="4572000" y="2157984"/>
            <a:ext cx="-3200400" cy="246888"/>
          </a:xfrm>
          <a:prstGeom prst="line">
            <a:avLst/>
          </a:prstGeom>
          <a:noFill/>
          <a:ln w="12700">
            <a:solidFill>
              <a:srgbClr val="64748B"/>
            </a:solidFill>
            <a:prstDash val="solid"/>
            <a:tailEnd type="triangle"/>
          </a:ln>
        </p:spPr>
      </p:sp>
      <p:sp>
        <p:nvSpPr>
          <p:cNvPr id="33" name="Shape 31"/>
          <p:cNvSpPr/>
          <p:nvPr/>
        </p:nvSpPr>
        <p:spPr>
          <a:xfrm>
            <a:off x="4572000" y="2157984"/>
            <a:ext cx="-1143000" cy="246888"/>
          </a:xfrm>
          <a:prstGeom prst="line">
            <a:avLst/>
          </a:prstGeom>
          <a:noFill/>
          <a:ln w="12700">
            <a:solidFill>
              <a:srgbClr val="64748B"/>
            </a:solidFill>
            <a:prstDash val="solid"/>
            <a:tailEnd type="triangle"/>
          </a:ln>
        </p:spPr>
      </p:sp>
      <p:sp>
        <p:nvSpPr>
          <p:cNvPr id="34" name="Shape 32"/>
          <p:cNvSpPr/>
          <p:nvPr/>
        </p:nvSpPr>
        <p:spPr>
          <a:xfrm>
            <a:off x="4572000" y="2157984"/>
            <a:ext cx="914400" cy="246888"/>
          </a:xfrm>
          <a:prstGeom prst="line">
            <a:avLst/>
          </a:prstGeom>
          <a:noFill/>
          <a:ln w="12700">
            <a:solidFill>
              <a:srgbClr val="64748B"/>
            </a:solidFill>
            <a:prstDash val="solid"/>
            <a:tailEnd type="triangle"/>
          </a:ln>
        </p:spPr>
      </p:sp>
      <p:sp>
        <p:nvSpPr>
          <p:cNvPr id="35" name="Shape 33"/>
          <p:cNvSpPr/>
          <p:nvPr/>
        </p:nvSpPr>
        <p:spPr>
          <a:xfrm>
            <a:off x="4572000" y="2157984"/>
            <a:ext cx="3090672" cy="246888"/>
          </a:xfrm>
          <a:prstGeom prst="line">
            <a:avLst/>
          </a:prstGeom>
          <a:noFill/>
          <a:ln w="12700">
            <a:solidFill>
              <a:srgbClr val="64748B"/>
            </a:solidFill>
            <a:prstDash val="solid"/>
            <a:tailEnd type="triangle"/>
          </a:ln>
        </p:spPr>
      </p:sp>
      <p:sp>
        <p:nvSpPr>
          <p:cNvPr id="36" name="Shape 34"/>
          <p:cNvSpPr/>
          <p:nvPr/>
        </p:nvSpPr>
        <p:spPr>
          <a:xfrm>
            <a:off x="2249424" y="2715768"/>
            <a:ext cx="256032" cy="0"/>
          </a:xfrm>
          <a:prstGeom prst="line">
            <a:avLst/>
          </a:prstGeom>
          <a:noFill/>
          <a:ln w="12700">
            <a:solidFill>
              <a:srgbClr val="E0A458"/>
            </a:solidFill>
            <a:prstDash val="solid"/>
            <a:tailEnd type="triangle"/>
          </a:ln>
        </p:spPr>
      </p:sp>
      <p:sp>
        <p:nvSpPr>
          <p:cNvPr id="37" name="Shape 35"/>
          <p:cNvSpPr/>
          <p:nvPr/>
        </p:nvSpPr>
        <p:spPr>
          <a:xfrm>
            <a:off x="4306824" y="2715768"/>
            <a:ext cx="265176" cy="0"/>
          </a:xfrm>
          <a:prstGeom prst="line">
            <a:avLst/>
          </a:prstGeom>
          <a:noFill/>
          <a:ln w="12700">
            <a:solidFill>
              <a:srgbClr val="E0A458"/>
            </a:solidFill>
            <a:prstDash val="solid"/>
            <a:tailEnd type="triangle"/>
          </a:ln>
        </p:spPr>
      </p:sp>
      <p:sp>
        <p:nvSpPr>
          <p:cNvPr id="38" name="Shape 36"/>
          <p:cNvSpPr/>
          <p:nvPr/>
        </p:nvSpPr>
        <p:spPr>
          <a:xfrm>
            <a:off x="5458968" y="3026664"/>
            <a:ext cx="-886968" cy="292608"/>
          </a:xfrm>
          <a:prstGeom prst="line">
            <a:avLst/>
          </a:prstGeom>
          <a:noFill/>
          <a:ln w="12700">
            <a:solidFill>
              <a:srgbClr val="E0A458"/>
            </a:solidFill>
            <a:prstDash val="solid"/>
            <a:tailEnd type="triangle"/>
          </a:ln>
        </p:spPr>
      </p:sp>
      <p:sp>
        <p:nvSpPr>
          <p:cNvPr id="39" name="Shape 37"/>
          <p:cNvSpPr/>
          <p:nvPr/>
        </p:nvSpPr>
        <p:spPr>
          <a:xfrm>
            <a:off x="5943600" y="3026664"/>
            <a:ext cx="1371600" cy="292608"/>
          </a:xfrm>
          <a:prstGeom prst="line">
            <a:avLst/>
          </a:prstGeom>
          <a:noFill/>
          <a:ln w="12700">
            <a:solidFill>
              <a:srgbClr val="E0A458"/>
            </a:solidFill>
            <a:prstDash val="solid"/>
            <a:tailEnd type="triangle"/>
          </a:ln>
        </p:spPr>
      </p:sp>
      <p:sp>
        <p:nvSpPr>
          <p:cNvPr id="40" name="Shape 38"/>
          <p:cNvSpPr/>
          <p:nvPr/>
        </p:nvSpPr>
        <p:spPr>
          <a:xfrm>
            <a:off x="5760720" y="3630168"/>
            <a:ext cx="859536" cy="-704088"/>
          </a:xfrm>
          <a:prstGeom prst="line">
            <a:avLst/>
          </a:prstGeom>
          <a:noFill/>
          <a:ln w="12700">
            <a:solidFill>
              <a:srgbClr val="5F7F65"/>
            </a:solidFill>
            <a:prstDash val="solid"/>
            <a:tailEnd type="triangle"/>
          </a:ln>
        </p:spPr>
      </p:sp>
      <p:sp>
        <p:nvSpPr>
          <p:cNvPr id="41" name="Shape 39"/>
          <p:cNvSpPr/>
          <p:nvPr/>
        </p:nvSpPr>
        <p:spPr>
          <a:xfrm>
            <a:off x="7662672" y="3026664"/>
            <a:ext cx="0" cy="292608"/>
          </a:xfrm>
          <a:prstGeom prst="line">
            <a:avLst/>
          </a:prstGeom>
          <a:noFill/>
          <a:ln w="12700">
            <a:solidFill>
              <a:srgbClr val="5F7F65"/>
            </a:solidFill>
            <a:prstDash val="solid"/>
            <a:tailEnd type="triangle"/>
          </a:ln>
        </p:spPr>
      </p:sp>
      <p:sp>
        <p:nvSpPr>
          <p:cNvPr id="42" name="Shape 40"/>
          <p:cNvSpPr/>
          <p:nvPr/>
        </p:nvSpPr>
        <p:spPr>
          <a:xfrm>
            <a:off x="2743200" y="4151376"/>
            <a:ext cx="685800" cy="-1115568"/>
          </a:xfrm>
          <a:prstGeom prst="line">
            <a:avLst/>
          </a:prstGeom>
          <a:noFill/>
          <a:ln w="12700">
            <a:solidFill>
              <a:srgbClr val="B07F39"/>
            </a:solidFill>
            <a:prstDash val="solid"/>
            <a:tailEnd type="triangle"/>
          </a:ln>
        </p:spPr>
      </p:sp>
      <p:sp>
        <p:nvSpPr>
          <p:cNvPr id="43" name="Shape 41"/>
          <p:cNvSpPr/>
          <p:nvPr/>
        </p:nvSpPr>
        <p:spPr>
          <a:xfrm>
            <a:off x="5029200" y="4151376"/>
            <a:ext cx="457200" cy="-1115568"/>
          </a:xfrm>
          <a:prstGeom prst="line">
            <a:avLst/>
          </a:prstGeom>
          <a:noFill/>
          <a:ln w="12700">
            <a:solidFill>
              <a:srgbClr val="B07F39"/>
            </a:solidFill>
            <a:prstDash val="solid"/>
            <a:tailEnd type="triangle"/>
          </a:ln>
        </p:spPr>
      </p:sp>
      <p:sp>
        <p:nvSpPr>
          <p:cNvPr id="44" name="Text 42"/>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45" name="Text 43"/>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7 / 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01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Party</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Canonical identity for every actor in Australian health research</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The Party context is the Shared Kernel for the model. It abstracts "who" — people, organisations, committees, regulators — behind a single identity surface, with roles applied contextually. This eliminates duplicate investigator entries across sites and underpins all authentication, authorisation, audit and credentialing.</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Party — abstract root for Person &amp; Organisation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PartyRole — time-bounded role assignments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PartyRelationship — affiliations, employment, delegation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Credential — registrations, accreditations, training</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Person, Organisation, HREC, ResearchOffice, Regulator, Sponsor</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Identifier (HPI-I, HPI-O, ORCID, ABN, AHPRA-RN)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Name, Address, ContactPoint, JurisdictionCode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AccreditationStatus, TrainingRecord (GCP)</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PartyRegistered, PartyVerified, PartyMerged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RoleAssigned, RoleRevoked, RoleExpired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CredentialIssued, CredentialExpired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OrganisationAccredited (HREC certification)</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HL7 FHIR R4 Practitioner / Organization · HPI-I &amp; HPI-O via HI Service · AHPRA · ORCID · ABN/ABR · NHMRC HREC Certification</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8 / 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02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Study</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protocol — scientific design, interventions and endpoints</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The Study context models the scientific intent of research: hypothesis, design, population, interventions and outcomes. It is the authoritative source for protocol content reused by Application, Evaluation, Project Management, Recruitment and Registry contexts — each consuming the slice relevant to its language.</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Study (Protocol) — versioned, immutable on approval</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Arm &amp; Cohort — randomisation &amp; population structure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Intervention — drug, device, procedure, comparator</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Outcome &amp; Endpoint — primary, secondary, safety</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EligibilityCriteria, Visit, Procedure, Assessment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Phase (I-IV), TherapeuticArea (MedDRA SOC)</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PopulationDescriptor, AgeRange, SexAtBirth</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SampleSize, StudyDesign (RCT, observational)</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StudyDrafted, StudyProtocolVersioned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StudyRegistered (issued Universal Trial Number)</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StudyAmended, StudyAmendmentApproved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StudyClosedToRecruitment, StudyCompleted</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CDISC ODM &amp; PRM · SPIRIT 2025 · ICH E6(R3) GCP · WHO Universal Trial Number · MedDRA · SNOMED CT-AU</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9 / 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03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Application</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submission lifecycle for ethics, governance and regulatory approval</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The Application context models the act of seeking approval. One ethics application (HREA) is reused across sites via derived SSAs; CTN, CTA and OGTR submissions are first-class application types with their own forms and recipients. State machines enforce valid transitions; amendments are versioned applications, never destructive edits.</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Application — HREA, SSA, CTN, CTA, OGTR DIR/NLRD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Submission — a single envelope to one recipient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AmendmentApplication — derived from approved baseline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ResponseToConditions — clarifications/revisions</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ApplicationForm, FormSection, Question, Answer</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Attachment (Protocol, PIS-CF, IB, CV)</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Signature (qualified e-signature), Declaration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ApplicationStatus, SubmissionChannel</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ApplicationDrafted, ApplicationSubmitted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ApplicationAcknowledged, ApplicationValidated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ApplicationWithdrawn, AmendmentSubmitted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ConditionsResponded, ApplicationLocked</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HREA dataset (NHMRC) · TGA CTN/CTA schema · OGTR DIR-NLRD forms · HL7 FHIR Questionnaire / QuestionnaireResponse · DocuSign-class qualified e-signature</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10 / 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04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Evaluation</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Ethics, scientific, governance and regulatory review with auditable decisions</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The Evaluation context owns the deliberative process — review meetings, reviewer assignments, comments, deliberations and decisions. It consumes an Application as input and produces an immutable Decision as output. Decisions, conditions and the evidentiary trail are fully reproducible to satisfy audit and TGA/NHMRC inspection.</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EthicsReview — by an HREC</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ScientificReview — by an SRC (where required)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SiteGovernanceReview — by the Research Office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RegulatoryAssessment — TGA CTA / OGTR</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ReviewMeeting, ReviewerAssignment, ConflictDeclaration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ReviewComment, Deliberation, Vote, Quorum</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Decision (Approved, Conditional, Not Approved)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Condition (pre/post-approval), Recommendation</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ReviewMeetingScheduled, ReviewersAssigned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DecisionRecorded, ConditionsIssued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ApprovalGranted, ApprovalSuspended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EthicsApprovalLapsed, AnnualReviewDue</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NHMRC National Statement on Ethical Conduct in Human Research 2023 · NCTGF · ICH E6(R3) · jurisdictional governance frameworks (REGIS, RGS, ERM, eHRG)</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11 / 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05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Project Management</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Operational delivery — sites, milestones, safety, monitoring and finance</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Once approved, a study becomes an operational programme. The Project Management context coordinates site activation, monitoring, safety reporting, deviations, budgets and contracts. It is the system of record for GCP-compliant trial conduct, and the upstream source for annual HREC reporting and trial-completion events in the Registry.</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SiteEngagement — one per Study × Site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SafetyReport — AE, SAE, SUSAR, USADE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ProtocolDeviation, MonitoringVisit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Budget, ContractAgreement, AnnualReport</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Milestone, Activity, Task, ParticipantVisit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Document (TMF), QueryItem, ActionItem</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Money, Currency, SiteStatus, Severity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CausalityAssessment, ExpectednessAssessment</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SiteActivated, FirstParticipantIn (FPI)</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SAEReported, SUSARExpedited, DeviationLogged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AnnualReportSubmitted, LastParticipantOut (LPO)</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TrialCompleted, TrialPrematurelyTerminated</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ICH-GCP E6(R3) · CDISC CDASH · MedDRA · CTCAE v5 · TGA SAE/SUSAR reporting · TMF Reference Model · ISO 14155 (devices)</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12 / 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06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Recruitment</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participant journey — discovery, screening, consent and enrolment</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Recruitment is the public-facing front door for participants. It deliberately partitions identity: an anonymous Prospect interacts with the trial finder, then becomes an identified Participant only after eligibility and explicit informed consent. eConsent is a first-class aggregate with cryptographic provenance to satisfy the National Statement and ICH-GCP.</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RecruitmentCampaign — per Study, multi-channel</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ParticipantProspect — pre-consent (no PHI)</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InformedConsent — eConsent, witnessed e-signature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EnrolmentRecord — post-consent linkage to PM</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EligibilityAssessment, ScreeningQuestionnaire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ContactPreference, ConsentVersion, Withdrawal</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ProspectCode (opaque), ConsentScope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RecruitmentChannel, CampaignPerformanceMetric</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CampaignLaunched, ProspectExpressedInterest</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ScreenedEligible, ScreenedIneligible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ConsentGranted, ConsentWithdrawn</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ParticipantEnrolled (handoff to Project Mgmt)</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NHMRC National Statement 2023 (consent ch. 2.2) · ICH-GCP E6(R3) §4.8 · Privacy Act 1988 / APPs · eConsent guidance (TGA) · WCAG 2.2 AA for public surfaces</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13 / 18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DOMAIN 07  /  BOUNDED CONTEXT</a:t>
            </a:r>
            <a:endParaRPr lang="en-US" sz="900" dirty="0"/>
          </a:p>
        </p:txBody>
      </p:sp>
      <p:sp>
        <p:nvSpPr>
          <p:cNvPr id="3" name="Shape 1"/>
          <p:cNvSpPr/>
          <p:nvPr/>
        </p:nvSpPr>
        <p:spPr>
          <a:xfrm>
            <a:off x="457200" y="566928"/>
            <a:ext cx="384048" cy="384048"/>
          </a:xfrm>
          <a:prstGeom prst="ellipse">
            <a:avLst/>
          </a:prstGeom>
          <a:solidFill>
            <a:srgbClr val="0F4C5C"/>
          </a:solidFill>
          <a:ln w="12700">
            <a:solidFill>
              <a:srgbClr val="0F4C5C"/>
            </a:solidFill>
            <a:prstDash val="solid"/>
          </a:ln>
        </p:spPr>
      </p:sp>
      <p:sp>
        <p:nvSpPr>
          <p:cNvPr id="4" name="Text 2"/>
          <p:cNvSpPr/>
          <p:nvPr/>
        </p:nvSpPr>
        <p:spPr>
          <a:xfrm>
            <a:off x="457200" y="566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pic>
        <p:nvPicPr>
          <p:cNvPr id="5" name="Image 0" descr="preencoded.png">    </p:cNvPr>
          <p:cNvPicPr>
            <a:picLocks noChangeAspect="1"/>
          </p:cNvPicPr>
          <p:nvPr/>
        </p:nvPicPr>
        <p:blipFill>
          <a:blip r:embed="rId1"/>
          <a:stretch>
            <a:fillRect/>
          </a:stretch>
        </p:blipFill>
        <p:spPr>
          <a:xfrm>
            <a:off x="8229600" y="548640"/>
            <a:ext cx="457200" cy="457200"/>
          </a:xfrm>
          <a:prstGeom prst="rect">
            <a:avLst/>
          </a:prstGeom>
        </p:spPr>
      </p:pic>
      <p:sp>
        <p:nvSpPr>
          <p:cNvPr id="6" name="Text 3"/>
          <p:cNvSpPr/>
          <p:nvPr/>
        </p:nvSpPr>
        <p:spPr>
          <a:xfrm>
            <a:off x="932688" y="548640"/>
            <a:ext cx="704088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Registry</a:t>
            </a:r>
            <a:endParaRPr lang="en-US" sz="2600" dirty="0"/>
          </a:p>
        </p:txBody>
      </p:sp>
      <p:sp>
        <p:nvSpPr>
          <p:cNvPr id="7" name="Text 4"/>
          <p:cNvSpPr/>
          <p:nvPr/>
        </p:nvSpPr>
        <p:spPr>
          <a:xfrm>
            <a:off x="457200" y="1078992"/>
            <a:ext cx="8229600"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WHO ICTRP-compliant public registration, results posting and transparency</a:t>
            </a:r>
            <a:endParaRPr lang="en-US" sz="1100" dirty="0"/>
          </a:p>
        </p:txBody>
      </p:sp>
      <p:sp>
        <p:nvSpPr>
          <p:cNvPr id="8" name="Text 5"/>
          <p:cNvSpPr/>
          <p:nvPr/>
        </p:nvSpPr>
        <p:spPr>
          <a:xfrm>
            <a:off x="457200" y="1417320"/>
            <a:ext cx="8229600" cy="548640"/>
          </a:xfrm>
          <a:prstGeom prst="rect">
            <a:avLst/>
          </a:prstGeom>
          <a:noFill/>
          <a:ln/>
        </p:spPr>
        <p:txBody>
          <a:bodyPr wrap="square" lIns="0" tIns="0" rIns="0" bIns="0" rtlCol="0" anchor="ctr"/>
          <a:lstStyle/>
          <a:p>
            <a:pPr indent="0" marL="0">
              <a:spcAft>
                <a:spcPts val="300"/>
              </a:spcAft>
              <a:buNone/>
            </a:pPr>
            <a:r>
              <a:rPr lang="en-US" sz="1050" dirty="0">
                <a:solidFill>
                  <a:srgbClr val="1E293B"/>
                </a:solidFill>
                <a:latin typeface="Calibri" pitchFamily="34" charset="0"/>
                <a:ea typeface="Calibri" pitchFamily="34" charset="-122"/>
                <a:cs typeface="Calibri" pitchFamily="34" charset="-120"/>
              </a:rPr>
              <a:t>The Registry context is a downstream read-model — a CQRS projection from Study, Application, Evaluation, Project Management and Recruitment. It exposes the WHO ICTRP Trial Registration Data Set, plain-language summaries, recruitment status and results posting. It is the public face of NOSS for patients, clinicians and journalists.</a:t>
            </a:r>
            <a:endParaRPr lang="en-US" sz="1050" dirty="0"/>
          </a:p>
        </p:txBody>
      </p:sp>
      <p:sp>
        <p:nvSpPr>
          <p:cNvPr id="9" name="Shape 6"/>
          <p:cNvSpPr/>
          <p:nvPr/>
        </p:nvSpPr>
        <p:spPr>
          <a:xfrm>
            <a:off x="457200" y="2057400"/>
            <a:ext cx="2679192" cy="2331720"/>
          </a:xfrm>
          <a:prstGeom prst="rect">
            <a:avLst/>
          </a:prstGeom>
          <a:solidFill>
            <a:srgbClr val="F1F5F4"/>
          </a:solidFill>
          <a:ln w="9525">
            <a:solidFill>
              <a:srgbClr val="D8E2DD"/>
            </a:solidFill>
            <a:prstDash val="solid"/>
          </a:ln>
        </p:spPr>
      </p:sp>
      <p:sp>
        <p:nvSpPr>
          <p:cNvPr id="10" name="Shape 7"/>
          <p:cNvSpPr/>
          <p:nvPr/>
        </p:nvSpPr>
        <p:spPr>
          <a:xfrm>
            <a:off x="457200" y="2057400"/>
            <a:ext cx="2679192" cy="54864"/>
          </a:xfrm>
          <a:prstGeom prst="rect">
            <a:avLst/>
          </a:prstGeom>
          <a:solidFill>
            <a:srgbClr val="0F4C5C"/>
          </a:solidFill>
          <a:ln w="12700">
            <a:solidFill>
              <a:srgbClr val="0F4C5C"/>
            </a:solidFill>
            <a:prstDash val="solid"/>
          </a:ln>
        </p:spPr>
      </p:sp>
      <p:sp>
        <p:nvSpPr>
          <p:cNvPr id="11" name="Text 8"/>
          <p:cNvSpPr/>
          <p:nvPr/>
        </p:nvSpPr>
        <p:spPr>
          <a:xfrm>
            <a:off x="621792"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Aggregates</a:t>
            </a:r>
            <a:endParaRPr lang="en-US" sz="1200" dirty="0"/>
          </a:p>
        </p:txBody>
      </p:sp>
      <p:sp>
        <p:nvSpPr>
          <p:cNvPr id="12" name="Text 9"/>
          <p:cNvSpPr/>
          <p:nvPr/>
        </p:nvSpPr>
        <p:spPr>
          <a:xfrm>
            <a:off x="621792"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RegistryRecord — versioned ICTRP-compliant entry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ResultsPosting — structured &amp; narrative outcomes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PlainLanguageSummary — patient-facing</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DataSharingStatement — IPD sharing intent</a:t>
            </a:r>
            <a:endParaRPr lang="en-US" sz="900" dirty="0"/>
          </a:p>
        </p:txBody>
      </p:sp>
      <p:sp>
        <p:nvSpPr>
          <p:cNvPr id="13" name="Shape 10"/>
          <p:cNvSpPr/>
          <p:nvPr/>
        </p:nvSpPr>
        <p:spPr>
          <a:xfrm>
            <a:off x="3227832" y="2057400"/>
            <a:ext cx="2679192" cy="2331720"/>
          </a:xfrm>
          <a:prstGeom prst="rect">
            <a:avLst/>
          </a:prstGeom>
          <a:solidFill>
            <a:srgbClr val="F1F5F4"/>
          </a:solidFill>
          <a:ln w="9525">
            <a:solidFill>
              <a:srgbClr val="D8E2DD"/>
            </a:solidFill>
            <a:prstDash val="solid"/>
          </a:ln>
        </p:spPr>
      </p:sp>
      <p:sp>
        <p:nvSpPr>
          <p:cNvPr id="14" name="Shape 11"/>
          <p:cNvSpPr/>
          <p:nvPr/>
        </p:nvSpPr>
        <p:spPr>
          <a:xfrm>
            <a:off x="3227832" y="2057400"/>
            <a:ext cx="2679192" cy="54864"/>
          </a:xfrm>
          <a:prstGeom prst="rect">
            <a:avLst/>
          </a:prstGeom>
          <a:solidFill>
            <a:srgbClr val="5F7F65"/>
          </a:solidFill>
          <a:ln w="12700">
            <a:solidFill>
              <a:srgbClr val="5F7F65"/>
            </a:solidFill>
            <a:prstDash val="solid"/>
          </a:ln>
        </p:spPr>
      </p:sp>
      <p:sp>
        <p:nvSpPr>
          <p:cNvPr id="15" name="Text 12"/>
          <p:cNvSpPr/>
          <p:nvPr/>
        </p:nvSpPr>
        <p:spPr>
          <a:xfrm>
            <a:off x="3392424"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Entities &amp; Value Objects</a:t>
            </a:r>
            <a:endParaRPr lang="en-US" sz="1200" dirty="0"/>
          </a:p>
        </p:txBody>
      </p:sp>
      <p:sp>
        <p:nvSpPr>
          <p:cNvPr id="16" name="Text 13"/>
          <p:cNvSpPr/>
          <p:nvPr/>
        </p:nvSpPr>
        <p:spPr>
          <a:xfrm>
            <a:off x="3392424"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RecruitmentStatus, EnrolmentCount, SiteListing</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Outcome, Adverse Event Summary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UTN, ANZCTRId, NCTId, EudraCTId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VOs: PublicationReference (DOI, PubMedID)</a:t>
            </a:r>
            <a:endParaRPr lang="en-US" sz="900" dirty="0"/>
          </a:p>
        </p:txBody>
      </p:sp>
      <p:sp>
        <p:nvSpPr>
          <p:cNvPr id="17" name="Shape 14"/>
          <p:cNvSpPr/>
          <p:nvPr/>
        </p:nvSpPr>
        <p:spPr>
          <a:xfrm>
            <a:off x="5998464" y="2057400"/>
            <a:ext cx="2679192" cy="2331720"/>
          </a:xfrm>
          <a:prstGeom prst="rect">
            <a:avLst/>
          </a:prstGeom>
          <a:solidFill>
            <a:srgbClr val="F1F5F4"/>
          </a:solidFill>
          <a:ln w="9525">
            <a:solidFill>
              <a:srgbClr val="D8E2DD"/>
            </a:solidFill>
            <a:prstDash val="solid"/>
          </a:ln>
        </p:spPr>
      </p:sp>
      <p:sp>
        <p:nvSpPr>
          <p:cNvPr id="18" name="Shape 15"/>
          <p:cNvSpPr/>
          <p:nvPr/>
        </p:nvSpPr>
        <p:spPr>
          <a:xfrm>
            <a:off x="5998464" y="2057400"/>
            <a:ext cx="2679192" cy="54864"/>
          </a:xfrm>
          <a:prstGeom prst="rect">
            <a:avLst/>
          </a:prstGeom>
          <a:solidFill>
            <a:srgbClr val="E0A458"/>
          </a:solidFill>
          <a:ln w="12700">
            <a:solidFill>
              <a:srgbClr val="E0A458"/>
            </a:solidFill>
            <a:prstDash val="solid"/>
          </a:ln>
        </p:spPr>
      </p:sp>
      <p:sp>
        <p:nvSpPr>
          <p:cNvPr id="19" name="Text 16"/>
          <p:cNvSpPr/>
          <p:nvPr/>
        </p:nvSpPr>
        <p:spPr>
          <a:xfrm>
            <a:off x="6163056" y="2194560"/>
            <a:ext cx="2404872" cy="292608"/>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Domain Events</a:t>
            </a:r>
            <a:endParaRPr lang="en-US" sz="1200" dirty="0"/>
          </a:p>
        </p:txBody>
      </p:sp>
      <p:sp>
        <p:nvSpPr>
          <p:cNvPr id="20" name="Text 17"/>
          <p:cNvSpPr/>
          <p:nvPr/>
        </p:nvSpPr>
        <p:spPr>
          <a:xfrm>
            <a:off x="6163056" y="2560320"/>
            <a:ext cx="2404872" cy="17373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RegistryRecordPublished, RegistryRecordUpdated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RecruitmentStatusChanged, ResultsPosted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PrematureClosureNotified, PublicationLinked</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DataAvailabilityChanged</a:t>
            </a:r>
            <a:endParaRPr lang="en-US" sz="900" dirty="0"/>
          </a:p>
        </p:txBody>
      </p:sp>
      <p:sp>
        <p:nvSpPr>
          <p:cNvPr id="21" name="Text 18"/>
          <p:cNvSpPr/>
          <p:nvPr/>
        </p:nvSpPr>
        <p:spPr>
          <a:xfrm>
            <a:off x="457200" y="4434840"/>
            <a:ext cx="365760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STANDARDS &amp; INTEGRATIONS</a:t>
            </a:r>
            <a:endParaRPr lang="en-US" sz="800" dirty="0"/>
          </a:p>
        </p:txBody>
      </p:sp>
      <p:sp>
        <p:nvSpPr>
          <p:cNvPr id="22" name="Text 19"/>
          <p:cNvSpPr/>
          <p:nvPr/>
        </p:nvSpPr>
        <p:spPr>
          <a:xfrm>
            <a:off x="457200" y="4599432"/>
            <a:ext cx="8229600" cy="20116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WHO ICTRP Trial Registration Data Set (TRDS) · ANZCTR · CT.gov data dictionary · CONSORT · FAIR data principles · ICMJE prospective registration</a:t>
            </a:r>
            <a:endParaRPr lang="en-US" sz="900" dirty="0"/>
          </a:p>
        </p:txBody>
      </p:sp>
      <p:sp>
        <p:nvSpPr>
          <p:cNvPr id="23" name="Text 20"/>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4" name="Text 21"/>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14 / 18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07  /  SUPPORTING SUBDOMAINS</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Cross-cutting concerns shared by all bounded contexts</a:t>
            </a:r>
            <a:endParaRPr lang="en-US" sz="2600" dirty="0"/>
          </a:p>
        </p:txBody>
      </p:sp>
      <p:sp>
        <p:nvSpPr>
          <p:cNvPr id="4" name="Shape 2"/>
          <p:cNvSpPr/>
          <p:nvPr/>
        </p:nvSpPr>
        <p:spPr>
          <a:xfrm>
            <a:off x="457200" y="1325880"/>
            <a:ext cx="2679192" cy="1508760"/>
          </a:xfrm>
          <a:prstGeom prst="rect">
            <a:avLst/>
          </a:prstGeom>
          <a:solidFill>
            <a:srgbClr val="F1F5F4"/>
          </a:solidFill>
          <a:ln w="9525">
            <a:solidFill>
              <a:srgbClr val="D8E2DD"/>
            </a:solidFill>
            <a:prstDash val="solid"/>
          </a:ln>
        </p:spPr>
      </p:sp>
      <p:sp>
        <p:nvSpPr>
          <p:cNvPr id="5" name="Shape 3"/>
          <p:cNvSpPr/>
          <p:nvPr/>
        </p:nvSpPr>
        <p:spPr>
          <a:xfrm>
            <a:off x="457200" y="1325880"/>
            <a:ext cx="64008" cy="1508760"/>
          </a:xfrm>
          <a:prstGeom prst="rect">
            <a:avLst/>
          </a:prstGeom>
          <a:solidFill>
            <a:srgbClr val="E0A458"/>
          </a:solidFill>
          <a:ln w="12700">
            <a:solidFill>
              <a:srgbClr val="E0A458"/>
            </a:solidFill>
            <a:prstDash val="solid"/>
          </a:ln>
        </p:spPr>
      </p:sp>
      <p:pic>
        <p:nvPicPr>
          <p:cNvPr id="6" name="Image 0" descr="preencoded.png">    </p:cNvPr>
          <p:cNvPicPr>
            <a:picLocks noChangeAspect="1"/>
          </p:cNvPicPr>
          <p:nvPr/>
        </p:nvPicPr>
        <p:blipFill>
          <a:blip r:embed="rId1"/>
          <a:stretch>
            <a:fillRect/>
          </a:stretch>
        </p:blipFill>
        <p:spPr>
          <a:xfrm>
            <a:off x="658368" y="1463040"/>
            <a:ext cx="292608" cy="292608"/>
          </a:xfrm>
          <a:prstGeom prst="rect">
            <a:avLst/>
          </a:prstGeom>
        </p:spPr>
      </p:pic>
      <p:sp>
        <p:nvSpPr>
          <p:cNvPr id="7" name="Text 4"/>
          <p:cNvSpPr/>
          <p:nvPr/>
        </p:nvSpPr>
        <p:spPr>
          <a:xfrm>
            <a:off x="1024128" y="14447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Identity &amp; Access (IDAM)</a:t>
            </a:r>
            <a:endParaRPr lang="en-US" sz="1200" dirty="0"/>
          </a:p>
        </p:txBody>
      </p:sp>
      <p:sp>
        <p:nvSpPr>
          <p:cNvPr id="8" name="Text 5"/>
          <p:cNvSpPr/>
          <p:nvPr/>
        </p:nvSpPr>
        <p:spPr>
          <a:xfrm>
            <a:off x="658368" y="18928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OAuth 2.1 / OIDC · Australian myGov &amp; myID · MFA · attribute-based access using Party roles</a:t>
            </a:r>
            <a:endParaRPr lang="en-US" sz="900" dirty="0"/>
          </a:p>
        </p:txBody>
      </p:sp>
      <p:sp>
        <p:nvSpPr>
          <p:cNvPr id="9" name="Shape 6"/>
          <p:cNvSpPr/>
          <p:nvPr/>
        </p:nvSpPr>
        <p:spPr>
          <a:xfrm>
            <a:off x="3227832" y="1325880"/>
            <a:ext cx="2679192" cy="1508760"/>
          </a:xfrm>
          <a:prstGeom prst="rect">
            <a:avLst/>
          </a:prstGeom>
          <a:solidFill>
            <a:srgbClr val="F1F5F4"/>
          </a:solidFill>
          <a:ln w="9525">
            <a:solidFill>
              <a:srgbClr val="D8E2DD"/>
            </a:solidFill>
            <a:prstDash val="solid"/>
          </a:ln>
        </p:spPr>
      </p:sp>
      <p:sp>
        <p:nvSpPr>
          <p:cNvPr id="10" name="Shape 7"/>
          <p:cNvSpPr/>
          <p:nvPr/>
        </p:nvSpPr>
        <p:spPr>
          <a:xfrm>
            <a:off x="3227832" y="1325880"/>
            <a:ext cx="64008" cy="1508760"/>
          </a:xfrm>
          <a:prstGeom prst="rect">
            <a:avLst/>
          </a:prstGeom>
          <a:solidFill>
            <a:srgbClr val="E0A458"/>
          </a:solidFill>
          <a:ln w="12700">
            <a:solidFill>
              <a:srgbClr val="E0A458"/>
            </a:solidFill>
            <a:prstDash val="solid"/>
          </a:ln>
        </p:spPr>
      </p:sp>
      <p:pic>
        <p:nvPicPr>
          <p:cNvPr id="11" name="Image 1" descr="preencoded.png">    </p:cNvPr>
          <p:cNvPicPr>
            <a:picLocks noChangeAspect="1"/>
          </p:cNvPicPr>
          <p:nvPr/>
        </p:nvPicPr>
        <p:blipFill>
          <a:blip r:embed="rId2"/>
          <a:stretch>
            <a:fillRect/>
          </a:stretch>
        </p:blipFill>
        <p:spPr>
          <a:xfrm>
            <a:off x="3429000" y="1463040"/>
            <a:ext cx="292608" cy="292608"/>
          </a:xfrm>
          <a:prstGeom prst="rect">
            <a:avLst/>
          </a:prstGeom>
        </p:spPr>
      </p:pic>
      <p:sp>
        <p:nvSpPr>
          <p:cNvPr id="12" name="Text 8"/>
          <p:cNvSpPr/>
          <p:nvPr/>
        </p:nvSpPr>
        <p:spPr>
          <a:xfrm>
            <a:off x="3794760" y="14447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Audit &amp; Provenance</a:t>
            </a:r>
            <a:endParaRPr lang="en-US" sz="1200" dirty="0"/>
          </a:p>
        </p:txBody>
      </p:sp>
      <p:sp>
        <p:nvSpPr>
          <p:cNvPr id="13" name="Text 9"/>
          <p:cNvSpPr/>
          <p:nvPr/>
        </p:nvSpPr>
        <p:spPr>
          <a:xfrm>
            <a:off x="3429000" y="18928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Immutable event log per aggregate · cryptographic signing · 25-year retention per NHMRC research records guidance</a:t>
            </a:r>
            <a:endParaRPr lang="en-US" sz="900" dirty="0"/>
          </a:p>
        </p:txBody>
      </p:sp>
      <p:sp>
        <p:nvSpPr>
          <p:cNvPr id="14" name="Shape 10"/>
          <p:cNvSpPr/>
          <p:nvPr/>
        </p:nvSpPr>
        <p:spPr>
          <a:xfrm>
            <a:off x="5998464" y="1325880"/>
            <a:ext cx="2679192" cy="1508760"/>
          </a:xfrm>
          <a:prstGeom prst="rect">
            <a:avLst/>
          </a:prstGeom>
          <a:solidFill>
            <a:srgbClr val="F1F5F4"/>
          </a:solidFill>
          <a:ln w="9525">
            <a:solidFill>
              <a:srgbClr val="D8E2DD"/>
            </a:solidFill>
            <a:prstDash val="solid"/>
          </a:ln>
        </p:spPr>
      </p:sp>
      <p:sp>
        <p:nvSpPr>
          <p:cNvPr id="15" name="Shape 11"/>
          <p:cNvSpPr/>
          <p:nvPr/>
        </p:nvSpPr>
        <p:spPr>
          <a:xfrm>
            <a:off x="5998464" y="1325880"/>
            <a:ext cx="64008" cy="1508760"/>
          </a:xfrm>
          <a:prstGeom prst="rect">
            <a:avLst/>
          </a:prstGeom>
          <a:solidFill>
            <a:srgbClr val="E0A458"/>
          </a:solidFill>
          <a:ln w="12700">
            <a:solidFill>
              <a:srgbClr val="E0A458"/>
            </a:solidFill>
            <a:prstDash val="solid"/>
          </a:ln>
        </p:spPr>
      </p:sp>
      <p:pic>
        <p:nvPicPr>
          <p:cNvPr id="16" name="Image 2" descr="preencoded.png">    </p:cNvPr>
          <p:cNvPicPr>
            <a:picLocks noChangeAspect="1"/>
          </p:cNvPicPr>
          <p:nvPr/>
        </p:nvPicPr>
        <p:blipFill>
          <a:blip r:embed="rId3"/>
          <a:stretch>
            <a:fillRect/>
          </a:stretch>
        </p:blipFill>
        <p:spPr>
          <a:xfrm>
            <a:off x="6199632" y="1463040"/>
            <a:ext cx="292608" cy="292608"/>
          </a:xfrm>
          <a:prstGeom prst="rect">
            <a:avLst/>
          </a:prstGeom>
        </p:spPr>
      </p:pic>
      <p:sp>
        <p:nvSpPr>
          <p:cNvPr id="17" name="Text 12"/>
          <p:cNvSpPr/>
          <p:nvPr/>
        </p:nvSpPr>
        <p:spPr>
          <a:xfrm>
            <a:off x="6565392" y="14447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Consent Management</a:t>
            </a:r>
            <a:endParaRPr lang="en-US" sz="1200" dirty="0"/>
          </a:p>
        </p:txBody>
      </p:sp>
      <p:sp>
        <p:nvSpPr>
          <p:cNvPr id="18" name="Text 13"/>
          <p:cNvSpPr/>
          <p:nvPr/>
        </p:nvSpPr>
        <p:spPr>
          <a:xfrm>
            <a:off x="6199632" y="18928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Multi-layered: research participation · eConsent · data sharing · platform terms · withdrawable</a:t>
            </a:r>
            <a:endParaRPr lang="en-US" sz="900" dirty="0"/>
          </a:p>
        </p:txBody>
      </p:sp>
      <p:sp>
        <p:nvSpPr>
          <p:cNvPr id="19" name="Shape 14"/>
          <p:cNvSpPr/>
          <p:nvPr/>
        </p:nvSpPr>
        <p:spPr>
          <a:xfrm>
            <a:off x="457200" y="2926080"/>
            <a:ext cx="2679192" cy="1508760"/>
          </a:xfrm>
          <a:prstGeom prst="rect">
            <a:avLst/>
          </a:prstGeom>
          <a:solidFill>
            <a:srgbClr val="F1F5F4"/>
          </a:solidFill>
          <a:ln w="9525">
            <a:solidFill>
              <a:srgbClr val="D8E2DD"/>
            </a:solidFill>
            <a:prstDash val="solid"/>
          </a:ln>
        </p:spPr>
      </p:sp>
      <p:sp>
        <p:nvSpPr>
          <p:cNvPr id="20" name="Shape 15"/>
          <p:cNvSpPr/>
          <p:nvPr/>
        </p:nvSpPr>
        <p:spPr>
          <a:xfrm>
            <a:off x="457200" y="2926080"/>
            <a:ext cx="64008" cy="1508760"/>
          </a:xfrm>
          <a:prstGeom prst="rect">
            <a:avLst/>
          </a:prstGeom>
          <a:solidFill>
            <a:srgbClr val="E0A458"/>
          </a:solidFill>
          <a:ln w="12700">
            <a:solidFill>
              <a:srgbClr val="E0A458"/>
            </a:solidFill>
            <a:prstDash val="solid"/>
          </a:ln>
        </p:spPr>
      </p:sp>
      <p:pic>
        <p:nvPicPr>
          <p:cNvPr id="21" name="Image 3" descr="preencoded.png">    </p:cNvPr>
          <p:cNvPicPr>
            <a:picLocks noChangeAspect="1"/>
          </p:cNvPicPr>
          <p:nvPr/>
        </p:nvPicPr>
        <p:blipFill>
          <a:blip r:embed="rId4"/>
          <a:stretch>
            <a:fillRect/>
          </a:stretch>
        </p:blipFill>
        <p:spPr>
          <a:xfrm>
            <a:off x="658368" y="3063240"/>
            <a:ext cx="292608" cy="292608"/>
          </a:xfrm>
          <a:prstGeom prst="rect">
            <a:avLst/>
          </a:prstGeom>
        </p:spPr>
      </p:pic>
      <p:sp>
        <p:nvSpPr>
          <p:cNvPr id="22" name="Text 16"/>
          <p:cNvSpPr/>
          <p:nvPr/>
        </p:nvSpPr>
        <p:spPr>
          <a:xfrm>
            <a:off x="1024128" y="30449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Document Management</a:t>
            </a:r>
            <a:endParaRPr lang="en-US" sz="1200" dirty="0"/>
          </a:p>
        </p:txBody>
      </p:sp>
      <p:sp>
        <p:nvSpPr>
          <p:cNvPr id="23" name="Text 17"/>
          <p:cNvSpPr/>
          <p:nvPr/>
        </p:nvSpPr>
        <p:spPr>
          <a:xfrm>
            <a:off x="658368" y="34930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TMF-aligned · versioned · DOI-resolvable · linked to source aggregate · OAIS preservation</a:t>
            </a:r>
            <a:endParaRPr lang="en-US" sz="900" dirty="0"/>
          </a:p>
        </p:txBody>
      </p:sp>
      <p:sp>
        <p:nvSpPr>
          <p:cNvPr id="24" name="Shape 18"/>
          <p:cNvSpPr/>
          <p:nvPr/>
        </p:nvSpPr>
        <p:spPr>
          <a:xfrm>
            <a:off x="3227832" y="2926080"/>
            <a:ext cx="2679192" cy="1508760"/>
          </a:xfrm>
          <a:prstGeom prst="rect">
            <a:avLst/>
          </a:prstGeom>
          <a:solidFill>
            <a:srgbClr val="F1F5F4"/>
          </a:solidFill>
          <a:ln w="9525">
            <a:solidFill>
              <a:srgbClr val="D8E2DD"/>
            </a:solidFill>
            <a:prstDash val="solid"/>
          </a:ln>
        </p:spPr>
      </p:sp>
      <p:sp>
        <p:nvSpPr>
          <p:cNvPr id="25" name="Shape 19"/>
          <p:cNvSpPr/>
          <p:nvPr/>
        </p:nvSpPr>
        <p:spPr>
          <a:xfrm>
            <a:off x="3227832" y="2926080"/>
            <a:ext cx="64008" cy="1508760"/>
          </a:xfrm>
          <a:prstGeom prst="rect">
            <a:avLst/>
          </a:prstGeom>
          <a:solidFill>
            <a:srgbClr val="E0A458"/>
          </a:solidFill>
          <a:ln w="12700">
            <a:solidFill>
              <a:srgbClr val="E0A458"/>
            </a:solidFill>
            <a:prstDash val="solid"/>
          </a:ln>
        </p:spPr>
      </p:sp>
      <p:pic>
        <p:nvPicPr>
          <p:cNvPr id="26" name="Image 4" descr="preencoded.png">    </p:cNvPr>
          <p:cNvPicPr>
            <a:picLocks noChangeAspect="1"/>
          </p:cNvPicPr>
          <p:nvPr/>
        </p:nvPicPr>
        <p:blipFill>
          <a:blip r:embed="rId5"/>
          <a:stretch>
            <a:fillRect/>
          </a:stretch>
        </p:blipFill>
        <p:spPr>
          <a:xfrm>
            <a:off x="3429000" y="3063240"/>
            <a:ext cx="292608" cy="292608"/>
          </a:xfrm>
          <a:prstGeom prst="rect">
            <a:avLst/>
          </a:prstGeom>
        </p:spPr>
      </p:pic>
      <p:sp>
        <p:nvSpPr>
          <p:cNvPr id="27" name="Text 20"/>
          <p:cNvSpPr/>
          <p:nvPr/>
        </p:nvSpPr>
        <p:spPr>
          <a:xfrm>
            <a:off x="3794760" y="30449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Notifications &amp; Workflow</a:t>
            </a:r>
            <a:endParaRPr lang="en-US" sz="1200" dirty="0"/>
          </a:p>
        </p:txBody>
      </p:sp>
      <p:sp>
        <p:nvSpPr>
          <p:cNvPr id="28" name="Text 21"/>
          <p:cNvSpPr/>
          <p:nvPr/>
        </p:nvSpPr>
        <p:spPr>
          <a:xfrm>
            <a:off x="3429000" y="34930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Email, SMS, in-app · BPMN orchestration of approval workflows · reminders &amp; escalations</a:t>
            </a:r>
            <a:endParaRPr lang="en-US" sz="900" dirty="0"/>
          </a:p>
        </p:txBody>
      </p:sp>
      <p:sp>
        <p:nvSpPr>
          <p:cNvPr id="29" name="Shape 22"/>
          <p:cNvSpPr/>
          <p:nvPr/>
        </p:nvSpPr>
        <p:spPr>
          <a:xfrm>
            <a:off x="5998464" y="2926080"/>
            <a:ext cx="2679192" cy="1508760"/>
          </a:xfrm>
          <a:prstGeom prst="rect">
            <a:avLst/>
          </a:prstGeom>
          <a:solidFill>
            <a:srgbClr val="F1F5F4"/>
          </a:solidFill>
          <a:ln w="9525">
            <a:solidFill>
              <a:srgbClr val="D8E2DD"/>
            </a:solidFill>
            <a:prstDash val="solid"/>
          </a:ln>
        </p:spPr>
      </p:sp>
      <p:sp>
        <p:nvSpPr>
          <p:cNvPr id="30" name="Shape 23"/>
          <p:cNvSpPr/>
          <p:nvPr/>
        </p:nvSpPr>
        <p:spPr>
          <a:xfrm>
            <a:off x="5998464" y="2926080"/>
            <a:ext cx="64008" cy="1508760"/>
          </a:xfrm>
          <a:prstGeom prst="rect">
            <a:avLst/>
          </a:prstGeom>
          <a:solidFill>
            <a:srgbClr val="E0A458"/>
          </a:solidFill>
          <a:ln w="12700">
            <a:solidFill>
              <a:srgbClr val="E0A458"/>
            </a:solidFill>
            <a:prstDash val="solid"/>
          </a:ln>
        </p:spPr>
      </p:sp>
      <p:pic>
        <p:nvPicPr>
          <p:cNvPr id="31" name="Image 5" descr="preencoded.png">    </p:cNvPr>
          <p:cNvPicPr>
            <a:picLocks noChangeAspect="1"/>
          </p:cNvPicPr>
          <p:nvPr/>
        </p:nvPicPr>
        <p:blipFill>
          <a:blip r:embed="rId6"/>
          <a:stretch>
            <a:fillRect/>
          </a:stretch>
        </p:blipFill>
        <p:spPr>
          <a:xfrm>
            <a:off x="6199632" y="3063240"/>
            <a:ext cx="292608" cy="292608"/>
          </a:xfrm>
          <a:prstGeom prst="rect">
            <a:avLst/>
          </a:prstGeom>
        </p:spPr>
      </p:pic>
      <p:sp>
        <p:nvSpPr>
          <p:cNvPr id="32" name="Text 24"/>
          <p:cNvSpPr/>
          <p:nvPr/>
        </p:nvSpPr>
        <p:spPr>
          <a:xfrm>
            <a:off x="6565392" y="3044952"/>
            <a:ext cx="19659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Privacy &amp; Data Sovereignty</a:t>
            </a:r>
            <a:endParaRPr lang="en-US" sz="1200" dirty="0"/>
          </a:p>
        </p:txBody>
      </p:sp>
      <p:sp>
        <p:nvSpPr>
          <p:cNvPr id="33" name="Text 25"/>
          <p:cNvSpPr/>
          <p:nvPr/>
        </p:nvSpPr>
        <p:spPr>
          <a:xfrm>
            <a:off x="6199632" y="3493008"/>
            <a:ext cx="2359152" cy="8686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Privacy Act 1988 / APPs · data residency in Australia · de-identification pipeline for analytics</a:t>
            </a:r>
            <a:endParaRPr lang="en-US" sz="900" dirty="0"/>
          </a:p>
        </p:txBody>
      </p:sp>
      <p:sp>
        <p:nvSpPr>
          <p:cNvPr id="34" name="Text 26"/>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35" name="Text 27"/>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15 / 18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08  /  EXTERNAL INTEGRATIONS</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Anti-Corruption Layers shield our core model</a:t>
            </a:r>
            <a:endParaRPr lang="en-US" sz="2600" dirty="0"/>
          </a:p>
        </p:txBody>
      </p:sp>
      <p:sp>
        <p:nvSpPr>
          <p:cNvPr id="4" name="Text 2"/>
          <p:cNvSpPr/>
          <p:nvPr/>
        </p:nvSpPr>
        <p:spPr>
          <a:xfrm>
            <a:off x="457200" y="1280160"/>
            <a:ext cx="8229600" cy="5943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NOSS must interoperate with regulators, identifiers and jurisdictional systems — but never let their schemas leak into the core model. Each external system is fronted by an Anti-Corruption Layer that translates between the foreign language and our Ubiquitous Language, on a Published Language.</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8229600" cy="914400"/>
        </p:xfrm>
        <a:graphic>
          <a:graphicData uri="http://schemas.openxmlformats.org/drawingml/2006/table">
            <a:tbl>
              <a:tblPr/>
              <a:tblGrid>
                <a:gridCol w="1554480"/>
                <a:gridCol w="2468880"/>
                <a:gridCol w="2194560"/>
                <a:gridCol w="20116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External System</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Capability</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Consuming Context</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Pattern / Protocol</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0F4C5C"/>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TGA</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CTN / CTA submissions, SAE/SUSAR reporting</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Application, Project Management</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REST / SOAP via TBC API</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OGTR</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DIR &amp; NLRD applications for gene tech</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Application</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Form-based + API</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NHMRC</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HREC certification, NCTGF compliance</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Party (Org), Evaluation</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FHIR Organization / accreditation</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AHPRA</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Practitioner registration &amp; specialty</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Party (Person)</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AHPRA register API</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HI Service</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HPI-I, HPI-O, IHI identifiers</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Party</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Services Australia / FHIR Identifier</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ANZCTR / WHO ICTRP</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Registration &amp; UTN issuance</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Registry</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WHO TRDS bulk upload + API</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State systems</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REGIS (NSW/ACT/TAS), RGS (WA), eHRG (SA), ERM (VIC/QLD/NT)</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Application, Evaluation</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Phased migration; coexist via ACL</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1F5F4"/>
                    </a:solidFill>
                  </a:tcPr>
                </a:tc>
              </a:tr>
              <a:tr h="256032">
                <a:tc>
                  <a:txBody>
                    <a:bodyPr/>
                    <a:lstStyle/>
                    <a:p>
                      <a:pPr indent="0" marL="0">
                        <a:buNone/>
                      </a:pPr>
                      <a:r>
                        <a:rPr lang="en-US" sz="900" b="1" dirty="0">
                          <a:solidFill>
                            <a:srgbClr val="0F4C5C"/>
                          </a:solidFill>
                          <a:latin typeface="Calibri" pitchFamily="34" charset="0"/>
                          <a:ea typeface="Calibri" pitchFamily="34" charset="-122"/>
                          <a:cs typeface="Calibri" pitchFamily="34" charset="-120"/>
                        </a:rPr>
                        <a:t>Medicare / PBS</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Health service data (optional, linked)</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i="1" dirty="0">
                          <a:solidFill>
                            <a:srgbClr val="5F7F65"/>
                          </a:solidFill>
                          <a:latin typeface="Calibri" pitchFamily="34" charset="0"/>
                          <a:ea typeface="Calibri" pitchFamily="34" charset="-122"/>
                          <a:cs typeface="Calibri" pitchFamily="34" charset="-120"/>
                        </a:rPr>
                        <a:t>Project Mgmt (analytics)</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Calibri" pitchFamily="34" charset="0"/>
                          <a:ea typeface="Calibri" pitchFamily="34" charset="-122"/>
                          <a:cs typeface="Calibri" pitchFamily="34" charset="-120"/>
                        </a:rPr>
                        <a:t>AIHW data integration partnerships</a:t>
                      </a:r>
                      <a:endParaRPr lang="en-US" sz="900" dirty="0">
                        <a:latin typeface="Calibri" charset="0"/>
                        <a:ea typeface="Calibri" charset="0"/>
                        <a:cs typeface="Calibri" charset="0"/>
                      </a:endParaRPr>
                    </a:p>
                  </a:txBody>
                  <a:tcPr marL="91440" marR="91440" marT="45720" marB="45720">
                    <a:lnL w="6350" cap="flat" cmpd="sng" algn="ctr">
                      <a:solidFill>
                        <a:srgbClr val="D8E2DD"/>
                      </a:solidFill>
                      <a:prstDash val="solid"/>
                      <a:round/>
                      <a:headEnd type="none" w="med" len="med"/>
                      <a:tailEnd type="none" w="med" len="med"/>
                    </a:lnL>
                    <a:lnR w="6350" cap="flat" cmpd="sng" algn="ctr">
                      <a:solidFill>
                        <a:srgbClr val="D8E2DD"/>
                      </a:solidFill>
                      <a:prstDash val="solid"/>
                      <a:round/>
                      <a:headEnd type="none" w="med" len="med"/>
                      <a:tailEnd type="none" w="med" len="med"/>
                    </a:lnR>
                    <a:lnT w="6350" cap="flat" cmpd="sng" algn="ctr">
                      <a:solidFill>
                        <a:srgbClr val="D8E2DD"/>
                      </a:solidFill>
                      <a:prstDash val="solid"/>
                      <a:round/>
                      <a:headEnd type="none" w="med" len="med"/>
                      <a:tailEnd type="none" w="med" len="med"/>
                    </a:lnT>
                    <a:lnB w="6350" cap="flat" cmpd="sng" algn="ctr">
                      <a:solidFill>
                        <a:srgbClr val="D8E2DD"/>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384048"/>
          </a:xfrm>
          <a:prstGeom prst="rect">
            <a:avLst/>
          </a:prstGeom>
          <a:noFill/>
          <a:ln/>
        </p:spPr>
        <p:txBody>
          <a:bodyPr wrap="square" lIns="0" tIns="0" rIns="0" bIns="0" rtlCol="0" anchor="ctr"/>
          <a:lstStyle/>
          <a:p>
            <a:pPr indent="0" marL="0">
              <a:buNone/>
            </a:pPr>
            <a:r>
              <a:rPr lang="en-US" sz="900" i="1" dirty="0">
                <a:solidFill>
                  <a:srgbClr val="1E293B"/>
                </a:solidFill>
                <a:latin typeface="Calibri" pitchFamily="34" charset="0"/>
                <a:ea typeface="Calibri" pitchFamily="34" charset="-122"/>
                <a:cs typeface="Calibri" pitchFamily="34" charset="-120"/>
              </a:rPr>
              <a:t>Published Language across the boundary: HL7 FHIR R4 for clinical &amp; administrative data · CDISC ODM for protocol &amp; data capture · WHO TRDS for registry · ISO 8601 / RFC 3339 for time</a:t>
            </a:r>
            <a:endParaRPr lang="en-US" sz="900" dirty="0"/>
          </a:p>
        </p:txBody>
      </p:sp>
      <p:sp>
        <p:nvSpPr>
          <p:cNvPr id="7" name="Text 4"/>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8" name="Text 5"/>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16 / 18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900" b="1" spc="300" kern="0" dirty="0">
                <a:solidFill>
                  <a:srgbClr val="E0A458"/>
                </a:solidFill>
                <a:latin typeface="Calibri" pitchFamily="34" charset="0"/>
                <a:ea typeface="Calibri" pitchFamily="34" charset="-122"/>
                <a:cs typeface="Calibri" pitchFamily="34" charset="-120"/>
              </a:rPr>
              <a:t>09  /  IMPLEMENTATION PATTERN</a:t>
            </a:r>
            <a:endParaRPr lang="en-US" sz="9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F4C5C"/>
                </a:solidFill>
                <a:latin typeface="Cambria" pitchFamily="34" charset="0"/>
                <a:ea typeface="Cambria" pitchFamily="34" charset="-122"/>
                <a:cs typeface="Cambria" pitchFamily="34" charset="-120"/>
              </a:rPr>
              <a:t>Event-driven, federated delivery</a:t>
            </a:r>
            <a:endParaRPr lang="en-US" sz="2600" dirty="0"/>
          </a:p>
        </p:txBody>
      </p:sp>
      <p:sp>
        <p:nvSpPr>
          <p:cNvPr id="4" name="Text 2"/>
          <p:cNvSpPr/>
          <p:nvPr/>
        </p:nvSpPr>
        <p:spPr>
          <a:xfrm>
            <a:off x="457200" y="1280160"/>
            <a:ext cx="8229600" cy="64008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Each bounded context maps to an independently deployable service owned by a single team. Inter-context coordination is asynchronous via Domain Events on a national event backbone. CQRS separates write models (in Application, Evaluation, Project Mgmt) from read-optimised projections (Registry).</a:t>
            </a:r>
            <a:endParaRPr lang="en-US" sz="1050" dirty="0"/>
          </a:p>
        </p:txBody>
      </p:sp>
      <p:sp>
        <p:nvSpPr>
          <p:cNvPr id="5" name="Shape 3"/>
          <p:cNvSpPr/>
          <p:nvPr/>
        </p:nvSpPr>
        <p:spPr>
          <a:xfrm>
            <a:off x="457200" y="2057400"/>
            <a:ext cx="1892808" cy="2103120"/>
          </a:xfrm>
          <a:prstGeom prst="rect">
            <a:avLst/>
          </a:prstGeom>
          <a:solidFill>
            <a:srgbClr val="F1F5F4"/>
          </a:solidFill>
          <a:ln w="9525">
            <a:solidFill>
              <a:srgbClr val="D8E2DD"/>
            </a:solidFill>
            <a:prstDash val="solid"/>
          </a:ln>
        </p:spPr>
      </p:sp>
      <p:sp>
        <p:nvSpPr>
          <p:cNvPr id="6" name="Shape 4"/>
          <p:cNvSpPr/>
          <p:nvPr/>
        </p:nvSpPr>
        <p:spPr>
          <a:xfrm>
            <a:off x="457200" y="2057400"/>
            <a:ext cx="1892808" cy="54864"/>
          </a:xfrm>
          <a:prstGeom prst="rect">
            <a:avLst/>
          </a:prstGeom>
          <a:solidFill>
            <a:srgbClr val="0F4C5C"/>
          </a:solidFill>
          <a:ln w="12700">
            <a:solidFill>
              <a:srgbClr val="0F4C5C"/>
            </a:solidFill>
            <a:prstDash val="solid"/>
          </a:ln>
        </p:spPr>
      </p:sp>
      <p:sp>
        <p:nvSpPr>
          <p:cNvPr id="7" name="Text 5"/>
          <p:cNvSpPr/>
          <p:nvPr/>
        </p:nvSpPr>
        <p:spPr>
          <a:xfrm>
            <a:off x="594360" y="2148840"/>
            <a:ext cx="914400" cy="365760"/>
          </a:xfrm>
          <a:prstGeom prst="rect">
            <a:avLst/>
          </a:prstGeom>
          <a:noFill/>
          <a:ln/>
        </p:spPr>
        <p:txBody>
          <a:bodyPr wrap="square" lIns="0" tIns="0" rIns="0" bIns="0" rtlCol="0" anchor="ctr"/>
          <a:lstStyle/>
          <a:p>
            <a:pPr indent="0" marL="0">
              <a:buNone/>
            </a:pPr>
            <a:r>
              <a:rPr lang="en-US" sz="2200" b="1" dirty="0">
                <a:solidFill>
                  <a:srgbClr val="E0A458"/>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594360" y="2560320"/>
            <a:ext cx="17373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Service per Context</a:t>
            </a:r>
            <a:endParaRPr lang="en-US" sz="1200" dirty="0"/>
          </a:p>
        </p:txBody>
      </p:sp>
      <p:sp>
        <p:nvSpPr>
          <p:cNvPr id="9" name="Text 7"/>
          <p:cNvSpPr/>
          <p:nvPr/>
        </p:nvSpPr>
        <p:spPr>
          <a:xfrm>
            <a:off x="594360" y="2907792"/>
            <a:ext cx="1691640" cy="11887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Independent codebase, datastore and team per context. Polyglot persistence — relational for Party/Application, document for Study, event store for PM/Audit.</a:t>
            </a:r>
            <a:endParaRPr lang="en-US" sz="900" dirty="0"/>
          </a:p>
        </p:txBody>
      </p:sp>
      <p:sp>
        <p:nvSpPr>
          <p:cNvPr id="10" name="Shape 8"/>
          <p:cNvSpPr/>
          <p:nvPr/>
        </p:nvSpPr>
        <p:spPr>
          <a:xfrm>
            <a:off x="2532888" y="2057400"/>
            <a:ext cx="1892808" cy="2103120"/>
          </a:xfrm>
          <a:prstGeom prst="rect">
            <a:avLst/>
          </a:prstGeom>
          <a:solidFill>
            <a:srgbClr val="F1F5F4"/>
          </a:solidFill>
          <a:ln w="9525">
            <a:solidFill>
              <a:srgbClr val="D8E2DD"/>
            </a:solidFill>
            <a:prstDash val="solid"/>
          </a:ln>
        </p:spPr>
      </p:sp>
      <p:sp>
        <p:nvSpPr>
          <p:cNvPr id="11" name="Shape 9"/>
          <p:cNvSpPr/>
          <p:nvPr/>
        </p:nvSpPr>
        <p:spPr>
          <a:xfrm>
            <a:off x="2532888" y="2057400"/>
            <a:ext cx="1892808" cy="54864"/>
          </a:xfrm>
          <a:prstGeom prst="rect">
            <a:avLst/>
          </a:prstGeom>
          <a:solidFill>
            <a:srgbClr val="0F4C5C"/>
          </a:solidFill>
          <a:ln w="12700">
            <a:solidFill>
              <a:srgbClr val="0F4C5C"/>
            </a:solidFill>
            <a:prstDash val="solid"/>
          </a:ln>
        </p:spPr>
      </p:sp>
      <p:sp>
        <p:nvSpPr>
          <p:cNvPr id="12" name="Text 10"/>
          <p:cNvSpPr/>
          <p:nvPr/>
        </p:nvSpPr>
        <p:spPr>
          <a:xfrm>
            <a:off x="2670048" y="2148840"/>
            <a:ext cx="914400" cy="365760"/>
          </a:xfrm>
          <a:prstGeom prst="rect">
            <a:avLst/>
          </a:prstGeom>
          <a:noFill/>
          <a:ln/>
        </p:spPr>
        <p:txBody>
          <a:bodyPr wrap="square" lIns="0" tIns="0" rIns="0" bIns="0" rtlCol="0" anchor="ctr"/>
          <a:lstStyle/>
          <a:p>
            <a:pPr indent="0" marL="0">
              <a:buNone/>
            </a:pPr>
            <a:r>
              <a:rPr lang="en-US" sz="2200" b="1" dirty="0">
                <a:solidFill>
                  <a:srgbClr val="E0A458"/>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2670048" y="2560320"/>
            <a:ext cx="17373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Event Backbone</a:t>
            </a:r>
            <a:endParaRPr lang="en-US" sz="1200" dirty="0"/>
          </a:p>
        </p:txBody>
      </p:sp>
      <p:sp>
        <p:nvSpPr>
          <p:cNvPr id="14" name="Text 12"/>
          <p:cNvSpPr/>
          <p:nvPr/>
        </p:nvSpPr>
        <p:spPr>
          <a:xfrm>
            <a:off x="2670048" y="2907792"/>
            <a:ext cx="1691640" cy="11887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All cross-context integration via published Domain Events (Kafka or equivalent). At-least-once delivery, schema registry, contract tests.</a:t>
            </a:r>
            <a:endParaRPr lang="en-US" sz="900" dirty="0"/>
          </a:p>
        </p:txBody>
      </p:sp>
      <p:sp>
        <p:nvSpPr>
          <p:cNvPr id="15" name="Shape 13"/>
          <p:cNvSpPr/>
          <p:nvPr/>
        </p:nvSpPr>
        <p:spPr>
          <a:xfrm>
            <a:off x="4608576" y="2057400"/>
            <a:ext cx="1892808" cy="2103120"/>
          </a:xfrm>
          <a:prstGeom prst="rect">
            <a:avLst/>
          </a:prstGeom>
          <a:solidFill>
            <a:srgbClr val="F1F5F4"/>
          </a:solidFill>
          <a:ln w="9525">
            <a:solidFill>
              <a:srgbClr val="D8E2DD"/>
            </a:solidFill>
            <a:prstDash val="solid"/>
          </a:ln>
        </p:spPr>
      </p:sp>
      <p:sp>
        <p:nvSpPr>
          <p:cNvPr id="16" name="Shape 14"/>
          <p:cNvSpPr/>
          <p:nvPr/>
        </p:nvSpPr>
        <p:spPr>
          <a:xfrm>
            <a:off x="4608576" y="2057400"/>
            <a:ext cx="1892808" cy="54864"/>
          </a:xfrm>
          <a:prstGeom prst="rect">
            <a:avLst/>
          </a:prstGeom>
          <a:solidFill>
            <a:srgbClr val="0F4C5C"/>
          </a:solidFill>
          <a:ln w="12700">
            <a:solidFill>
              <a:srgbClr val="0F4C5C"/>
            </a:solidFill>
            <a:prstDash val="solid"/>
          </a:ln>
        </p:spPr>
      </p:sp>
      <p:sp>
        <p:nvSpPr>
          <p:cNvPr id="17" name="Text 15"/>
          <p:cNvSpPr/>
          <p:nvPr/>
        </p:nvSpPr>
        <p:spPr>
          <a:xfrm>
            <a:off x="4745736" y="2148840"/>
            <a:ext cx="914400" cy="365760"/>
          </a:xfrm>
          <a:prstGeom prst="rect">
            <a:avLst/>
          </a:prstGeom>
          <a:noFill/>
          <a:ln/>
        </p:spPr>
        <p:txBody>
          <a:bodyPr wrap="square" lIns="0" tIns="0" rIns="0" bIns="0" rtlCol="0" anchor="ctr"/>
          <a:lstStyle/>
          <a:p>
            <a:pPr indent="0" marL="0">
              <a:buNone/>
            </a:pPr>
            <a:r>
              <a:rPr lang="en-US" sz="2200" b="1" dirty="0">
                <a:solidFill>
                  <a:srgbClr val="E0A458"/>
                </a:solidFill>
                <a:latin typeface="Cambria" pitchFamily="34" charset="0"/>
                <a:ea typeface="Cambria" pitchFamily="34" charset="-122"/>
                <a:cs typeface="Cambria" pitchFamily="34" charset="-120"/>
              </a:rPr>
              <a:t>03</a:t>
            </a:r>
            <a:endParaRPr lang="en-US" sz="2200" dirty="0"/>
          </a:p>
        </p:txBody>
      </p:sp>
      <p:sp>
        <p:nvSpPr>
          <p:cNvPr id="18" name="Text 16"/>
          <p:cNvSpPr/>
          <p:nvPr/>
        </p:nvSpPr>
        <p:spPr>
          <a:xfrm>
            <a:off x="4745736" y="2560320"/>
            <a:ext cx="17373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CQRS &amp; Projections</a:t>
            </a:r>
            <a:endParaRPr lang="en-US" sz="1200" dirty="0"/>
          </a:p>
        </p:txBody>
      </p:sp>
      <p:sp>
        <p:nvSpPr>
          <p:cNvPr id="19" name="Text 17"/>
          <p:cNvSpPr/>
          <p:nvPr/>
        </p:nvSpPr>
        <p:spPr>
          <a:xfrm>
            <a:off x="4745736" y="2907792"/>
            <a:ext cx="1691640" cy="11887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Registry, dashboards and analytics are read-side projections. Write models stay focused on invariants; reads can be denormalised freely.</a:t>
            </a:r>
            <a:endParaRPr lang="en-US" sz="900" dirty="0"/>
          </a:p>
        </p:txBody>
      </p:sp>
      <p:sp>
        <p:nvSpPr>
          <p:cNvPr id="20" name="Shape 18"/>
          <p:cNvSpPr/>
          <p:nvPr/>
        </p:nvSpPr>
        <p:spPr>
          <a:xfrm>
            <a:off x="6684264" y="2057400"/>
            <a:ext cx="1892808" cy="2103120"/>
          </a:xfrm>
          <a:prstGeom prst="rect">
            <a:avLst/>
          </a:prstGeom>
          <a:solidFill>
            <a:srgbClr val="F1F5F4"/>
          </a:solidFill>
          <a:ln w="9525">
            <a:solidFill>
              <a:srgbClr val="D8E2DD"/>
            </a:solidFill>
            <a:prstDash val="solid"/>
          </a:ln>
        </p:spPr>
      </p:sp>
      <p:sp>
        <p:nvSpPr>
          <p:cNvPr id="21" name="Shape 19"/>
          <p:cNvSpPr/>
          <p:nvPr/>
        </p:nvSpPr>
        <p:spPr>
          <a:xfrm>
            <a:off x="6684264" y="2057400"/>
            <a:ext cx="1892808" cy="54864"/>
          </a:xfrm>
          <a:prstGeom prst="rect">
            <a:avLst/>
          </a:prstGeom>
          <a:solidFill>
            <a:srgbClr val="0F4C5C"/>
          </a:solidFill>
          <a:ln w="12700">
            <a:solidFill>
              <a:srgbClr val="0F4C5C"/>
            </a:solidFill>
            <a:prstDash val="solid"/>
          </a:ln>
        </p:spPr>
      </p:sp>
      <p:sp>
        <p:nvSpPr>
          <p:cNvPr id="22" name="Text 20"/>
          <p:cNvSpPr/>
          <p:nvPr/>
        </p:nvSpPr>
        <p:spPr>
          <a:xfrm>
            <a:off x="6821424" y="2148840"/>
            <a:ext cx="914400" cy="365760"/>
          </a:xfrm>
          <a:prstGeom prst="rect">
            <a:avLst/>
          </a:prstGeom>
          <a:noFill/>
          <a:ln/>
        </p:spPr>
        <p:txBody>
          <a:bodyPr wrap="square" lIns="0" tIns="0" rIns="0" bIns="0" rtlCol="0" anchor="ctr"/>
          <a:lstStyle/>
          <a:p>
            <a:pPr indent="0" marL="0">
              <a:buNone/>
            </a:pPr>
            <a:r>
              <a:rPr lang="en-US" sz="2200" b="1" dirty="0">
                <a:solidFill>
                  <a:srgbClr val="E0A458"/>
                </a:solidFill>
                <a:latin typeface="Cambria" pitchFamily="34" charset="0"/>
                <a:ea typeface="Cambria" pitchFamily="34" charset="-122"/>
                <a:cs typeface="Cambria" pitchFamily="34" charset="-120"/>
              </a:rPr>
              <a:t>04</a:t>
            </a:r>
            <a:endParaRPr lang="en-US" sz="2200" dirty="0"/>
          </a:p>
        </p:txBody>
      </p:sp>
      <p:sp>
        <p:nvSpPr>
          <p:cNvPr id="23" name="Text 21"/>
          <p:cNvSpPr/>
          <p:nvPr/>
        </p:nvSpPr>
        <p:spPr>
          <a:xfrm>
            <a:off x="6821424" y="2560320"/>
            <a:ext cx="1737360" cy="320040"/>
          </a:xfrm>
          <a:prstGeom prst="rect">
            <a:avLst/>
          </a:prstGeom>
          <a:noFill/>
          <a:ln/>
        </p:spPr>
        <p:txBody>
          <a:bodyPr wrap="square" lIns="0" tIns="0" rIns="0" bIns="0" rtlCol="0" anchor="ctr"/>
          <a:lstStyle/>
          <a:p>
            <a:pPr indent="0" marL="0">
              <a:buNone/>
            </a:pPr>
            <a:r>
              <a:rPr lang="en-US" sz="1200" b="1" dirty="0">
                <a:solidFill>
                  <a:srgbClr val="0F4C5C"/>
                </a:solidFill>
                <a:latin typeface="Cambria" pitchFamily="34" charset="0"/>
                <a:ea typeface="Cambria" pitchFamily="34" charset="-122"/>
                <a:cs typeface="Cambria" pitchFamily="34" charset="-120"/>
              </a:rPr>
              <a:t>BFF per Persona</a:t>
            </a:r>
            <a:endParaRPr lang="en-US" sz="1200" dirty="0"/>
          </a:p>
        </p:txBody>
      </p:sp>
      <p:sp>
        <p:nvSpPr>
          <p:cNvPr id="24" name="Text 22"/>
          <p:cNvSpPr/>
          <p:nvPr/>
        </p:nvSpPr>
        <p:spPr>
          <a:xfrm>
            <a:off x="6821424" y="2907792"/>
            <a:ext cx="1691640" cy="11887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Backends-for-Frontends shaped to: Researcher / Sponsor portal · HREC reviewer console · Regulator console · Public trial finder.</a:t>
            </a:r>
            <a:endParaRPr lang="en-US" sz="900" dirty="0"/>
          </a:p>
        </p:txBody>
      </p:sp>
      <p:sp>
        <p:nvSpPr>
          <p:cNvPr id="25" name="Shape 23"/>
          <p:cNvSpPr/>
          <p:nvPr/>
        </p:nvSpPr>
        <p:spPr>
          <a:xfrm>
            <a:off x="457200" y="4343400"/>
            <a:ext cx="8229600" cy="411480"/>
          </a:xfrm>
          <a:prstGeom prst="rect">
            <a:avLst/>
          </a:prstGeom>
          <a:solidFill>
            <a:srgbClr val="0A3540"/>
          </a:solidFill>
          <a:ln w="12700">
            <a:solidFill>
              <a:srgbClr val="0A3540"/>
            </a:solidFill>
            <a:prstDash val="solid"/>
          </a:ln>
        </p:spPr>
      </p:sp>
      <p:sp>
        <p:nvSpPr>
          <p:cNvPr id="26" name="Text 24"/>
          <p:cNvSpPr/>
          <p:nvPr/>
        </p:nvSpPr>
        <p:spPr>
          <a:xfrm>
            <a:off x="640080" y="4398264"/>
            <a:ext cx="1645920" cy="320040"/>
          </a:xfrm>
          <a:prstGeom prst="rect">
            <a:avLst/>
          </a:prstGeom>
          <a:noFill/>
          <a:ln/>
        </p:spPr>
        <p:txBody>
          <a:bodyPr wrap="square" lIns="0" tIns="0" rIns="0" bIns="0" rtlCol="0" anchor="ctr"/>
          <a:lstStyle/>
          <a:p>
            <a:pPr indent="0" marL="0">
              <a:buNone/>
            </a:pPr>
            <a:r>
              <a:rPr lang="en-US" sz="1000" b="1" dirty="0">
                <a:solidFill>
                  <a:srgbClr val="E0A458"/>
                </a:solidFill>
                <a:latin typeface="Calibri" pitchFamily="34" charset="0"/>
                <a:ea typeface="Calibri" pitchFamily="34" charset="-122"/>
                <a:cs typeface="Calibri" pitchFamily="34" charset="-120"/>
              </a:rPr>
              <a:t>Strategic principle:</a:t>
            </a:r>
            <a:endParaRPr lang="en-US" sz="1000" dirty="0"/>
          </a:p>
        </p:txBody>
      </p:sp>
      <p:sp>
        <p:nvSpPr>
          <p:cNvPr id="27" name="Text 25"/>
          <p:cNvSpPr/>
          <p:nvPr/>
        </p:nvSpPr>
        <p:spPr>
          <a:xfrm>
            <a:off x="2194560" y="4398264"/>
            <a:ext cx="6400800" cy="32004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contexts collaborate through events and contracts, never through shared tables.</a:t>
            </a:r>
            <a:endParaRPr lang="en-US" sz="1000" dirty="0"/>
          </a:p>
        </p:txBody>
      </p:sp>
      <p:sp>
        <p:nvSpPr>
          <p:cNvPr id="28" name="Text 26"/>
          <p:cNvSpPr/>
          <p:nvPr/>
        </p:nvSpPr>
        <p:spPr>
          <a:xfrm>
            <a:off x="457200" y="4846320"/>
            <a:ext cx="64008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NOSS  /  National Data Model  /  Domain-Driven Design</a:t>
            </a:r>
            <a:endParaRPr lang="en-US" sz="800" dirty="0"/>
          </a:p>
        </p:txBody>
      </p:sp>
      <p:sp>
        <p:nvSpPr>
          <p:cNvPr id="29" name="Text 27"/>
          <p:cNvSpPr/>
          <p:nvPr/>
        </p:nvSpPr>
        <p:spPr>
          <a:xfrm>
            <a:off x="7315200" y="4846320"/>
            <a:ext cx="1371600" cy="201168"/>
          </a:xfrm>
          <a:prstGeom prst="rect">
            <a:avLst/>
          </a:prstGeom>
          <a:noFill/>
          <a:ln/>
        </p:spPr>
        <p:txBody>
          <a:bodyPr wrap="square" lIns="0" tIns="0" rIns="0" bIns="0"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Page 17 / 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7863840" y="0"/>
            <a:ext cx="73152" cy="5143500"/>
          </a:xfrm>
          <a:prstGeom prst="rect">
            <a:avLst/>
          </a:prstGeom>
          <a:solidFill>
            <a:srgbClr val="E0A458"/>
          </a:solidFill>
          <a:ln w="12700">
            <a:solidFill>
              <a:srgbClr val="E0A458"/>
            </a:solidFill>
            <a:prstDash val="solid"/>
          </a:ln>
        </p:spPr>
      </p:sp>
      <p:sp>
        <p:nvSpPr>
          <p:cNvPr id="3" name="Text 1"/>
          <p:cNvSpPr/>
          <p:nvPr/>
        </p:nvSpPr>
        <p:spPr>
          <a:xfrm>
            <a:off x="548640" y="502920"/>
            <a:ext cx="6400800" cy="274320"/>
          </a:xfrm>
          <a:prstGeom prst="rect">
            <a:avLst/>
          </a:prstGeom>
          <a:noFill/>
          <a:ln/>
        </p:spPr>
        <p:txBody>
          <a:bodyPr wrap="square" lIns="0" tIns="0" rIns="0" bIns="0" rtlCol="0" anchor="ctr"/>
          <a:lstStyle/>
          <a:p>
            <a:pPr indent="0" marL="0">
              <a:buNone/>
            </a:pPr>
            <a:r>
              <a:rPr lang="en-US" sz="1000" b="1" spc="400" kern="0" dirty="0">
                <a:solidFill>
                  <a:srgbClr val="E0A458"/>
                </a:solidFill>
                <a:latin typeface="Calibri" pitchFamily="34" charset="0"/>
                <a:ea typeface="Calibri" pitchFamily="34" charset="-122"/>
                <a:cs typeface="Calibri" pitchFamily="34" charset="-120"/>
              </a:rPr>
              <a:t>ROADMAP  /  CLOSING</a:t>
            </a:r>
            <a:endParaRPr lang="en-US" sz="1000" dirty="0"/>
          </a:p>
        </p:txBody>
      </p:sp>
      <p:sp>
        <p:nvSpPr>
          <p:cNvPr id="4" name="Text 2"/>
          <p:cNvSpPr/>
          <p:nvPr/>
        </p:nvSpPr>
        <p:spPr>
          <a:xfrm>
            <a:off x="548640" y="822960"/>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Phased delivery, federated teams</a:t>
            </a:r>
            <a:endParaRPr lang="en-US" sz="2600" dirty="0"/>
          </a:p>
        </p:txBody>
      </p:sp>
      <p:sp>
        <p:nvSpPr>
          <p:cNvPr id="5" name="Shape 3"/>
          <p:cNvSpPr/>
          <p:nvPr/>
        </p:nvSpPr>
        <p:spPr>
          <a:xfrm>
            <a:off x="548640" y="1554480"/>
            <a:ext cx="1005840" cy="457200"/>
          </a:xfrm>
          <a:prstGeom prst="rect">
            <a:avLst/>
          </a:prstGeom>
          <a:solidFill>
            <a:srgbClr val="E0A458"/>
          </a:solidFill>
          <a:ln w="12700">
            <a:solidFill>
              <a:srgbClr val="E0A458"/>
            </a:solidFill>
            <a:prstDash val="solid"/>
          </a:ln>
        </p:spPr>
      </p:sp>
      <p:sp>
        <p:nvSpPr>
          <p:cNvPr id="6" name="Text 4"/>
          <p:cNvSpPr/>
          <p:nvPr/>
        </p:nvSpPr>
        <p:spPr>
          <a:xfrm>
            <a:off x="548640" y="1554480"/>
            <a:ext cx="1005840" cy="457200"/>
          </a:xfrm>
          <a:prstGeom prst="rect">
            <a:avLst/>
          </a:prstGeom>
          <a:noFill/>
          <a:ln/>
        </p:spPr>
        <p:txBody>
          <a:bodyPr wrap="square" lIns="0" tIns="0" rIns="0" bIns="0" rtlCol="0" anchor="ctr"/>
          <a:lstStyle/>
          <a:p>
            <a:pPr algn="ctr" indent="0" marL="0">
              <a:buNone/>
            </a:pPr>
            <a:r>
              <a:rPr lang="en-US" sz="1200" b="1" dirty="0">
                <a:solidFill>
                  <a:srgbClr val="0A3540"/>
                </a:solidFill>
                <a:latin typeface="Cambria" pitchFamily="34" charset="0"/>
                <a:ea typeface="Cambria" pitchFamily="34" charset="-122"/>
                <a:cs typeface="Cambria" pitchFamily="34" charset="-120"/>
              </a:rPr>
              <a:t>Phase 1</a:t>
            </a:r>
            <a:endParaRPr lang="en-US" sz="1200" dirty="0"/>
          </a:p>
        </p:txBody>
      </p:sp>
      <p:sp>
        <p:nvSpPr>
          <p:cNvPr id="7" name="Text 5"/>
          <p:cNvSpPr/>
          <p:nvPr/>
        </p:nvSpPr>
        <p:spPr>
          <a:xfrm>
            <a:off x="1691640" y="1572768"/>
            <a:ext cx="274320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Foundation</a:t>
            </a:r>
            <a:endParaRPr lang="en-US" sz="1300" dirty="0"/>
          </a:p>
        </p:txBody>
      </p:sp>
      <p:sp>
        <p:nvSpPr>
          <p:cNvPr id="8" name="Text 6"/>
          <p:cNvSpPr/>
          <p:nvPr/>
        </p:nvSpPr>
        <p:spPr>
          <a:xfrm>
            <a:off x="1691640" y="1801368"/>
            <a:ext cx="5486400" cy="246888"/>
          </a:xfrm>
          <a:prstGeom prst="rect">
            <a:avLst/>
          </a:prstGeom>
          <a:noFill/>
          <a:ln/>
        </p:spPr>
        <p:txBody>
          <a:bodyPr wrap="square" lIns="0" tIns="0" rIns="0" bIns="0" rtlCol="0" anchor="ctr"/>
          <a:lstStyle/>
          <a:p>
            <a:pPr indent="0" marL="0">
              <a:buNone/>
            </a:pPr>
            <a:r>
              <a:rPr lang="en-US" sz="1000" dirty="0">
                <a:solidFill>
                  <a:srgbClr val="BFD4D9"/>
                </a:solidFill>
                <a:latin typeface="Calibri" pitchFamily="34" charset="0"/>
                <a:ea typeface="Calibri" pitchFamily="34" charset="-122"/>
                <a:cs typeface="Calibri" pitchFamily="34" charset="-120"/>
              </a:rPr>
              <a:t>Party · IDAM · Audit · Document · Notification backbone</a:t>
            </a:r>
            <a:endParaRPr lang="en-US" sz="1000" dirty="0"/>
          </a:p>
        </p:txBody>
      </p:sp>
      <p:sp>
        <p:nvSpPr>
          <p:cNvPr id="9" name="Text 7"/>
          <p:cNvSpPr/>
          <p:nvPr/>
        </p:nvSpPr>
        <p:spPr>
          <a:xfrm>
            <a:off x="6675120" y="1673352"/>
            <a:ext cx="1005840" cy="274320"/>
          </a:xfrm>
          <a:prstGeom prst="rect">
            <a:avLst/>
          </a:prstGeom>
          <a:noFill/>
          <a:ln/>
        </p:spPr>
        <p:txBody>
          <a:bodyPr wrap="square" lIns="0" tIns="0" rIns="0" bIns="0" rtlCol="0" anchor="ctr"/>
          <a:lstStyle/>
          <a:p>
            <a:pPr algn="r" indent="0" marL="0">
              <a:buNone/>
            </a:pPr>
            <a:r>
              <a:rPr lang="en-US" sz="900" i="1" dirty="0">
                <a:solidFill>
                  <a:srgbClr val="E0A458"/>
                </a:solidFill>
                <a:latin typeface="Calibri" pitchFamily="34" charset="0"/>
                <a:ea typeface="Calibri" pitchFamily="34" charset="-122"/>
                <a:cs typeface="Calibri" pitchFamily="34" charset="-120"/>
              </a:rPr>
              <a:t>Months 0–9</a:t>
            </a:r>
            <a:endParaRPr lang="en-US" sz="900" dirty="0"/>
          </a:p>
        </p:txBody>
      </p:sp>
      <p:sp>
        <p:nvSpPr>
          <p:cNvPr id="10" name="Shape 8"/>
          <p:cNvSpPr/>
          <p:nvPr/>
        </p:nvSpPr>
        <p:spPr>
          <a:xfrm>
            <a:off x="548640" y="2157984"/>
            <a:ext cx="1005840" cy="457200"/>
          </a:xfrm>
          <a:prstGeom prst="rect">
            <a:avLst/>
          </a:prstGeom>
          <a:solidFill>
            <a:srgbClr val="E0A458"/>
          </a:solidFill>
          <a:ln w="12700">
            <a:solidFill>
              <a:srgbClr val="E0A458"/>
            </a:solidFill>
            <a:prstDash val="solid"/>
          </a:ln>
        </p:spPr>
      </p:sp>
      <p:sp>
        <p:nvSpPr>
          <p:cNvPr id="11" name="Text 9"/>
          <p:cNvSpPr/>
          <p:nvPr/>
        </p:nvSpPr>
        <p:spPr>
          <a:xfrm>
            <a:off x="548640" y="2157984"/>
            <a:ext cx="1005840" cy="457200"/>
          </a:xfrm>
          <a:prstGeom prst="rect">
            <a:avLst/>
          </a:prstGeom>
          <a:noFill/>
          <a:ln/>
        </p:spPr>
        <p:txBody>
          <a:bodyPr wrap="square" lIns="0" tIns="0" rIns="0" bIns="0" rtlCol="0" anchor="ctr"/>
          <a:lstStyle/>
          <a:p>
            <a:pPr algn="ctr" indent="0" marL="0">
              <a:buNone/>
            </a:pPr>
            <a:r>
              <a:rPr lang="en-US" sz="1200" b="1" dirty="0">
                <a:solidFill>
                  <a:srgbClr val="0A3540"/>
                </a:solidFill>
                <a:latin typeface="Cambria" pitchFamily="34" charset="0"/>
                <a:ea typeface="Cambria" pitchFamily="34" charset="-122"/>
                <a:cs typeface="Cambria" pitchFamily="34" charset="-120"/>
              </a:rPr>
              <a:t>Phase 2</a:t>
            </a:r>
            <a:endParaRPr lang="en-US" sz="1200" dirty="0"/>
          </a:p>
        </p:txBody>
      </p:sp>
      <p:sp>
        <p:nvSpPr>
          <p:cNvPr id="12" name="Text 10"/>
          <p:cNvSpPr/>
          <p:nvPr/>
        </p:nvSpPr>
        <p:spPr>
          <a:xfrm>
            <a:off x="1691640" y="2176272"/>
            <a:ext cx="274320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Core research</a:t>
            </a:r>
            <a:endParaRPr lang="en-US" sz="1300" dirty="0"/>
          </a:p>
        </p:txBody>
      </p:sp>
      <p:sp>
        <p:nvSpPr>
          <p:cNvPr id="13" name="Text 11"/>
          <p:cNvSpPr/>
          <p:nvPr/>
        </p:nvSpPr>
        <p:spPr>
          <a:xfrm>
            <a:off x="1691640" y="2404872"/>
            <a:ext cx="5486400" cy="246888"/>
          </a:xfrm>
          <a:prstGeom prst="rect">
            <a:avLst/>
          </a:prstGeom>
          <a:noFill/>
          <a:ln/>
        </p:spPr>
        <p:txBody>
          <a:bodyPr wrap="square" lIns="0" tIns="0" rIns="0" bIns="0" rtlCol="0" anchor="ctr"/>
          <a:lstStyle/>
          <a:p>
            <a:pPr indent="0" marL="0">
              <a:buNone/>
            </a:pPr>
            <a:r>
              <a:rPr lang="en-US" sz="1000" dirty="0">
                <a:solidFill>
                  <a:srgbClr val="BFD4D9"/>
                </a:solidFill>
                <a:latin typeface="Calibri" pitchFamily="34" charset="0"/>
                <a:ea typeface="Calibri" pitchFamily="34" charset="-122"/>
                <a:cs typeface="Calibri" pitchFamily="34" charset="-120"/>
              </a:rPr>
              <a:t>Study · Application · Evaluation (HREA + SSA national flow)</a:t>
            </a:r>
            <a:endParaRPr lang="en-US" sz="1000" dirty="0"/>
          </a:p>
        </p:txBody>
      </p:sp>
      <p:sp>
        <p:nvSpPr>
          <p:cNvPr id="14" name="Text 12"/>
          <p:cNvSpPr/>
          <p:nvPr/>
        </p:nvSpPr>
        <p:spPr>
          <a:xfrm>
            <a:off x="6675120" y="2276856"/>
            <a:ext cx="1005840" cy="274320"/>
          </a:xfrm>
          <a:prstGeom prst="rect">
            <a:avLst/>
          </a:prstGeom>
          <a:noFill/>
          <a:ln/>
        </p:spPr>
        <p:txBody>
          <a:bodyPr wrap="square" lIns="0" tIns="0" rIns="0" bIns="0" rtlCol="0" anchor="ctr"/>
          <a:lstStyle/>
          <a:p>
            <a:pPr algn="r" indent="0" marL="0">
              <a:buNone/>
            </a:pPr>
            <a:r>
              <a:rPr lang="en-US" sz="900" i="1" dirty="0">
                <a:solidFill>
                  <a:srgbClr val="E0A458"/>
                </a:solidFill>
                <a:latin typeface="Calibri" pitchFamily="34" charset="0"/>
                <a:ea typeface="Calibri" pitchFamily="34" charset="-122"/>
                <a:cs typeface="Calibri" pitchFamily="34" charset="-120"/>
              </a:rPr>
              <a:t>Months 6–18</a:t>
            </a:r>
            <a:endParaRPr lang="en-US" sz="900" dirty="0"/>
          </a:p>
        </p:txBody>
      </p:sp>
      <p:sp>
        <p:nvSpPr>
          <p:cNvPr id="15" name="Shape 13"/>
          <p:cNvSpPr/>
          <p:nvPr/>
        </p:nvSpPr>
        <p:spPr>
          <a:xfrm>
            <a:off x="548640" y="2761488"/>
            <a:ext cx="1005840" cy="457200"/>
          </a:xfrm>
          <a:prstGeom prst="rect">
            <a:avLst/>
          </a:prstGeom>
          <a:solidFill>
            <a:srgbClr val="E0A458"/>
          </a:solidFill>
          <a:ln w="12700">
            <a:solidFill>
              <a:srgbClr val="E0A458"/>
            </a:solidFill>
            <a:prstDash val="solid"/>
          </a:ln>
        </p:spPr>
      </p:sp>
      <p:sp>
        <p:nvSpPr>
          <p:cNvPr id="16" name="Text 14"/>
          <p:cNvSpPr/>
          <p:nvPr/>
        </p:nvSpPr>
        <p:spPr>
          <a:xfrm>
            <a:off x="548640" y="2761488"/>
            <a:ext cx="1005840" cy="457200"/>
          </a:xfrm>
          <a:prstGeom prst="rect">
            <a:avLst/>
          </a:prstGeom>
          <a:noFill/>
          <a:ln/>
        </p:spPr>
        <p:txBody>
          <a:bodyPr wrap="square" lIns="0" tIns="0" rIns="0" bIns="0" rtlCol="0" anchor="ctr"/>
          <a:lstStyle/>
          <a:p>
            <a:pPr algn="ctr" indent="0" marL="0">
              <a:buNone/>
            </a:pPr>
            <a:r>
              <a:rPr lang="en-US" sz="1200" b="1" dirty="0">
                <a:solidFill>
                  <a:srgbClr val="0A3540"/>
                </a:solidFill>
                <a:latin typeface="Cambria" pitchFamily="34" charset="0"/>
                <a:ea typeface="Cambria" pitchFamily="34" charset="-122"/>
                <a:cs typeface="Cambria" pitchFamily="34" charset="-120"/>
              </a:rPr>
              <a:t>Phase 3</a:t>
            </a:r>
            <a:endParaRPr lang="en-US" sz="1200" dirty="0"/>
          </a:p>
        </p:txBody>
      </p:sp>
      <p:sp>
        <p:nvSpPr>
          <p:cNvPr id="17" name="Text 15"/>
          <p:cNvSpPr/>
          <p:nvPr/>
        </p:nvSpPr>
        <p:spPr>
          <a:xfrm>
            <a:off x="1691640" y="2779776"/>
            <a:ext cx="274320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Operational &amp; public</a:t>
            </a:r>
            <a:endParaRPr lang="en-US" sz="1300" dirty="0"/>
          </a:p>
        </p:txBody>
      </p:sp>
      <p:sp>
        <p:nvSpPr>
          <p:cNvPr id="18" name="Text 16"/>
          <p:cNvSpPr/>
          <p:nvPr/>
        </p:nvSpPr>
        <p:spPr>
          <a:xfrm>
            <a:off x="1691640" y="3008376"/>
            <a:ext cx="5486400" cy="246888"/>
          </a:xfrm>
          <a:prstGeom prst="rect">
            <a:avLst/>
          </a:prstGeom>
          <a:noFill/>
          <a:ln/>
        </p:spPr>
        <p:txBody>
          <a:bodyPr wrap="square" lIns="0" tIns="0" rIns="0" bIns="0" rtlCol="0" anchor="ctr"/>
          <a:lstStyle/>
          <a:p>
            <a:pPr indent="0" marL="0">
              <a:buNone/>
            </a:pPr>
            <a:r>
              <a:rPr lang="en-US" sz="1000" dirty="0">
                <a:solidFill>
                  <a:srgbClr val="BFD4D9"/>
                </a:solidFill>
                <a:latin typeface="Calibri" pitchFamily="34" charset="0"/>
                <a:ea typeface="Calibri" pitchFamily="34" charset="-122"/>
                <a:cs typeface="Calibri" pitchFamily="34" charset="-120"/>
              </a:rPr>
              <a:t>Project Mgmt · Recruitment · Registry (WHO ICTRP-ready)</a:t>
            </a:r>
            <a:endParaRPr lang="en-US" sz="1000" dirty="0"/>
          </a:p>
        </p:txBody>
      </p:sp>
      <p:sp>
        <p:nvSpPr>
          <p:cNvPr id="19" name="Text 17"/>
          <p:cNvSpPr/>
          <p:nvPr/>
        </p:nvSpPr>
        <p:spPr>
          <a:xfrm>
            <a:off x="6675120" y="2880360"/>
            <a:ext cx="1005840" cy="274320"/>
          </a:xfrm>
          <a:prstGeom prst="rect">
            <a:avLst/>
          </a:prstGeom>
          <a:noFill/>
          <a:ln/>
        </p:spPr>
        <p:txBody>
          <a:bodyPr wrap="square" lIns="0" tIns="0" rIns="0" bIns="0" rtlCol="0" anchor="ctr"/>
          <a:lstStyle/>
          <a:p>
            <a:pPr algn="r" indent="0" marL="0">
              <a:buNone/>
            </a:pPr>
            <a:r>
              <a:rPr lang="en-US" sz="900" i="1" dirty="0">
                <a:solidFill>
                  <a:srgbClr val="E0A458"/>
                </a:solidFill>
                <a:latin typeface="Calibri" pitchFamily="34" charset="0"/>
                <a:ea typeface="Calibri" pitchFamily="34" charset="-122"/>
                <a:cs typeface="Calibri" pitchFamily="34" charset="-120"/>
              </a:rPr>
              <a:t>Months 12–24</a:t>
            </a:r>
            <a:endParaRPr lang="en-US" sz="900" dirty="0"/>
          </a:p>
        </p:txBody>
      </p:sp>
      <p:sp>
        <p:nvSpPr>
          <p:cNvPr id="20" name="Shape 18"/>
          <p:cNvSpPr/>
          <p:nvPr/>
        </p:nvSpPr>
        <p:spPr>
          <a:xfrm>
            <a:off x="548640" y="3364992"/>
            <a:ext cx="1005840" cy="457200"/>
          </a:xfrm>
          <a:prstGeom prst="rect">
            <a:avLst/>
          </a:prstGeom>
          <a:solidFill>
            <a:srgbClr val="E0A458"/>
          </a:solidFill>
          <a:ln w="12700">
            <a:solidFill>
              <a:srgbClr val="E0A458"/>
            </a:solidFill>
            <a:prstDash val="solid"/>
          </a:ln>
        </p:spPr>
      </p:sp>
      <p:sp>
        <p:nvSpPr>
          <p:cNvPr id="21" name="Text 19"/>
          <p:cNvSpPr/>
          <p:nvPr/>
        </p:nvSpPr>
        <p:spPr>
          <a:xfrm>
            <a:off x="548640" y="3364992"/>
            <a:ext cx="1005840" cy="457200"/>
          </a:xfrm>
          <a:prstGeom prst="rect">
            <a:avLst/>
          </a:prstGeom>
          <a:noFill/>
          <a:ln/>
        </p:spPr>
        <p:txBody>
          <a:bodyPr wrap="square" lIns="0" tIns="0" rIns="0" bIns="0" rtlCol="0" anchor="ctr"/>
          <a:lstStyle/>
          <a:p>
            <a:pPr algn="ctr" indent="0" marL="0">
              <a:buNone/>
            </a:pPr>
            <a:r>
              <a:rPr lang="en-US" sz="1200" b="1" dirty="0">
                <a:solidFill>
                  <a:srgbClr val="0A3540"/>
                </a:solidFill>
                <a:latin typeface="Cambria" pitchFamily="34" charset="0"/>
                <a:ea typeface="Cambria" pitchFamily="34" charset="-122"/>
                <a:cs typeface="Cambria" pitchFamily="34" charset="-120"/>
              </a:rPr>
              <a:t>Phase 4</a:t>
            </a:r>
            <a:endParaRPr lang="en-US" sz="1200" dirty="0"/>
          </a:p>
        </p:txBody>
      </p:sp>
      <p:sp>
        <p:nvSpPr>
          <p:cNvPr id="22" name="Text 20"/>
          <p:cNvSpPr/>
          <p:nvPr/>
        </p:nvSpPr>
        <p:spPr>
          <a:xfrm>
            <a:off x="1691640" y="3383280"/>
            <a:ext cx="274320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External integration</a:t>
            </a:r>
            <a:endParaRPr lang="en-US" sz="1300" dirty="0"/>
          </a:p>
        </p:txBody>
      </p:sp>
      <p:sp>
        <p:nvSpPr>
          <p:cNvPr id="23" name="Text 21"/>
          <p:cNvSpPr/>
          <p:nvPr/>
        </p:nvSpPr>
        <p:spPr>
          <a:xfrm>
            <a:off x="1691640" y="3611880"/>
            <a:ext cx="5486400" cy="246888"/>
          </a:xfrm>
          <a:prstGeom prst="rect">
            <a:avLst/>
          </a:prstGeom>
          <a:noFill/>
          <a:ln/>
        </p:spPr>
        <p:txBody>
          <a:bodyPr wrap="square" lIns="0" tIns="0" rIns="0" bIns="0" rtlCol="0" anchor="ctr"/>
          <a:lstStyle/>
          <a:p>
            <a:pPr indent="0" marL="0">
              <a:buNone/>
            </a:pPr>
            <a:r>
              <a:rPr lang="en-US" sz="1000" dirty="0">
                <a:solidFill>
                  <a:srgbClr val="BFD4D9"/>
                </a:solidFill>
                <a:latin typeface="Calibri" pitchFamily="34" charset="0"/>
                <a:ea typeface="Calibri" pitchFamily="34" charset="-122"/>
                <a:cs typeface="Calibri" pitchFamily="34" charset="-120"/>
              </a:rPr>
              <a:t>TGA · OGTR · NHMRC · jurisdictional migration &amp; decommissioning</a:t>
            </a:r>
            <a:endParaRPr lang="en-US" sz="1000" dirty="0"/>
          </a:p>
        </p:txBody>
      </p:sp>
      <p:sp>
        <p:nvSpPr>
          <p:cNvPr id="24" name="Text 22"/>
          <p:cNvSpPr/>
          <p:nvPr/>
        </p:nvSpPr>
        <p:spPr>
          <a:xfrm>
            <a:off x="6675120" y="3483864"/>
            <a:ext cx="1005840" cy="274320"/>
          </a:xfrm>
          <a:prstGeom prst="rect">
            <a:avLst/>
          </a:prstGeom>
          <a:noFill/>
          <a:ln/>
        </p:spPr>
        <p:txBody>
          <a:bodyPr wrap="square" lIns="0" tIns="0" rIns="0" bIns="0" rtlCol="0" anchor="ctr"/>
          <a:lstStyle/>
          <a:p>
            <a:pPr algn="r" indent="0" marL="0">
              <a:buNone/>
            </a:pPr>
            <a:r>
              <a:rPr lang="en-US" sz="900" i="1" dirty="0">
                <a:solidFill>
                  <a:srgbClr val="E0A458"/>
                </a:solidFill>
                <a:latin typeface="Calibri" pitchFamily="34" charset="0"/>
                <a:ea typeface="Calibri" pitchFamily="34" charset="-122"/>
                <a:cs typeface="Calibri" pitchFamily="34" charset="-120"/>
              </a:rPr>
              <a:t>Months 18–36</a:t>
            </a:r>
            <a:endParaRPr lang="en-US" sz="900" dirty="0"/>
          </a:p>
        </p:txBody>
      </p:sp>
      <p:sp>
        <p:nvSpPr>
          <p:cNvPr id="25" name="Shape 23"/>
          <p:cNvSpPr/>
          <p:nvPr/>
        </p:nvSpPr>
        <p:spPr>
          <a:xfrm>
            <a:off x="548640" y="4434840"/>
            <a:ext cx="36576" cy="457200"/>
          </a:xfrm>
          <a:prstGeom prst="rect">
            <a:avLst/>
          </a:prstGeom>
          <a:solidFill>
            <a:srgbClr val="E0A458"/>
          </a:solidFill>
          <a:ln w="12700">
            <a:solidFill>
              <a:srgbClr val="E0A458"/>
            </a:solidFill>
            <a:prstDash val="solid"/>
          </a:ln>
        </p:spPr>
      </p:sp>
      <p:sp>
        <p:nvSpPr>
          <p:cNvPr id="26" name="Text 24"/>
          <p:cNvSpPr/>
          <p:nvPr/>
        </p:nvSpPr>
        <p:spPr>
          <a:xfrm>
            <a:off x="731520" y="4462272"/>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Thank you  ·  Questions &amp; discussion</a:t>
            </a:r>
            <a:endParaRPr lang="en-US" sz="1300" dirty="0"/>
          </a:p>
        </p:txBody>
      </p:sp>
      <p:sp>
        <p:nvSpPr>
          <p:cNvPr id="27" name="Text 25"/>
          <p:cNvSpPr/>
          <p:nvPr/>
        </p:nvSpPr>
        <p:spPr>
          <a:xfrm>
            <a:off x="731520" y="4764024"/>
            <a:ext cx="7772400" cy="274320"/>
          </a:xfrm>
          <a:prstGeom prst="rect">
            <a:avLst/>
          </a:prstGeom>
          <a:noFill/>
          <a:ln/>
        </p:spPr>
        <p:txBody>
          <a:bodyPr wrap="square" lIns="0" tIns="0" rIns="0" bIns="0" rtlCol="0" anchor="ctr"/>
          <a:lstStyle/>
          <a:p>
            <a:pPr indent="0" marL="0">
              <a:buNone/>
            </a:pPr>
            <a:r>
              <a:rPr lang="en-US" sz="900" i="1" dirty="0">
                <a:solidFill>
                  <a:srgbClr val="BFD4D9"/>
                </a:solidFill>
                <a:latin typeface="Calibri" pitchFamily="34" charset="0"/>
                <a:ea typeface="Calibri" pitchFamily="34" charset="-122"/>
                <a:cs typeface="Calibri" pitchFamily="34" charset="-120"/>
              </a:rPr>
              <a:t>Senior Data Architect  ·  National One Stop Shop  ·  Health-Related Human Research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NOSS National Data Model</dc:title>
  <dc:subject>PptxGenJS Presentation</dc:subject>
  <dc:creator>Senior Data Architect</dc:creator>
  <cp:lastModifiedBy>Senior Data Architect</cp:lastModifiedBy>
  <cp:revision>1</cp:revision>
  <dcterms:created xsi:type="dcterms:W3CDTF">2026-05-20T22:45:04Z</dcterms:created>
  <dcterms:modified xsi:type="dcterms:W3CDTF">2026-05-20T22:45:04Z</dcterms:modified>
</cp:coreProperties>
</file>